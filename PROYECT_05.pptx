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71" r:id="rId2"/>
    <p:sldId id="282" r:id="rId3"/>
    <p:sldId id="304" r:id="rId4"/>
    <p:sldId id="334" r:id="rId5"/>
    <p:sldId id="305" r:id="rId6"/>
    <p:sldId id="301" r:id="rId7"/>
    <p:sldId id="303" r:id="rId8"/>
    <p:sldId id="312" r:id="rId9"/>
    <p:sldId id="315" r:id="rId10"/>
    <p:sldId id="317" r:id="rId11"/>
    <p:sldId id="306" r:id="rId12"/>
    <p:sldId id="273" r:id="rId13"/>
    <p:sldId id="324" r:id="rId14"/>
    <p:sldId id="325" r:id="rId15"/>
    <p:sldId id="276" r:id="rId16"/>
    <p:sldId id="284" r:id="rId17"/>
    <p:sldId id="329" r:id="rId18"/>
    <p:sldId id="333" r:id="rId19"/>
    <p:sldId id="295" r:id="rId20"/>
    <p:sldId id="291" r:id="rId21"/>
    <p:sldId id="337" r:id="rId22"/>
    <p:sldId id="338" r:id="rId23"/>
    <p:sldId id="331" r:id="rId24"/>
    <p:sldId id="340" r:id="rId25"/>
    <p:sldId id="335" r:id="rId26"/>
    <p:sldId id="361" r:id="rId27"/>
    <p:sldId id="374" r:id="rId28"/>
    <p:sldId id="341" r:id="rId29"/>
    <p:sldId id="344" r:id="rId30"/>
    <p:sldId id="360" r:id="rId31"/>
    <p:sldId id="375" r:id="rId32"/>
    <p:sldId id="345" r:id="rId33"/>
    <p:sldId id="349" r:id="rId34"/>
    <p:sldId id="356" r:id="rId35"/>
    <p:sldId id="376" r:id="rId36"/>
    <p:sldId id="350" r:id="rId37"/>
    <p:sldId id="348" r:id="rId38"/>
    <p:sldId id="347" r:id="rId39"/>
    <p:sldId id="354" r:id="rId40"/>
    <p:sldId id="377" r:id="rId41"/>
    <p:sldId id="353" r:id="rId42"/>
    <p:sldId id="355" r:id="rId43"/>
    <p:sldId id="378" r:id="rId44"/>
    <p:sldId id="357" r:id="rId45"/>
    <p:sldId id="359" r:id="rId46"/>
    <p:sldId id="379" r:id="rId47"/>
    <p:sldId id="372" r:id="rId48"/>
    <p:sldId id="373" r:id="rId49"/>
    <p:sldId id="380" r:id="rId50"/>
    <p:sldId id="369" r:id="rId51"/>
    <p:sldId id="370" r:id="rId52"/>
    <p:sldId id="381" r:id="rId53"/>
    <p:sldId id="336" r:id="rId54"/>
    <p:sldId id="339" r:id="rId55"/>
    <p:sldId id="275" r:id="rId56"/>
    <p:sldId id="313" r:id="rId5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5C5"/>
    <a:srgbClr val="FFB7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snapToGrid="0">
      <p:cViewPr varScale="1">
        <p:scale>
          <a:sx n="119" d="100"/>
          <a:sy n="119" d="100"/>
        </p:scale>
        <p:origin x="19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C5C6B3-F934-4810-A50C-66C3AC1EBE76}" type="datetimeFigureOut">
              <a:rPr lang="es-MX" smtClean="0"/>
              <a:t>30/04/2025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EFB2F9-AA0B-4247-BE18-E783CCD73E46}" type="slidenum">
              <a:rPr lang="es-MX" smtClean="0"/>
              <a:t>‹Nº›</a:t>
            </a:fld>
            <a:endParaRPr lang="es-MX"/>
          </a:p>
        </p:txBody>
      </p:sp>
    </p:spTree>
    <p:extLst>
      <p:ext uri="{BB962C8B-B14F-4D97-AF65-F5344CB8AC3E}">
        <p14:creationId xmlns:p14="http://schemas.microsoft.com/office/powerpoint/2010/main" val="2229868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0FEFB2F9-AA0B-4247-BE18-E783CCD73E46}" type="slidenum">
              <a:rPr lang="es-MX" smtClean="0"/>
              <a:t>6</a:t>
            </a:fld>
            <a:endParaRPr lang="es-MX"/>
          </a:p>
        </p:txBody>
      </p:sp>
    </p:spTree>
    <p:extLst>
      <p:ext uri="{BB962C8B-B14F-4D97-AF65-F5344CB8AC3E}">
        <p14:creationId xmlns:p14="http://schemas.microsoft.com/office/powerpoint/2010/main" val="996314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5A14D6-C001-9593-4FC6-52500433DEE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0CB2855-4D02-C0E3-9A3D-11C5EBA6C2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1BF638B6-BE0B-780B-2C9A-C37906B5B789}"/>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5" name="Marcador de pie de página 4">
            <a:extLst>
              <a:ext uri="{FF2B5EF4-FFF2-40B4-BE49-F238E27FC236}">
                <a16:creationId xmlns:a16="http://schemas.microsoft.com/office/drawing/2014/main" id="{AC54EE3C-6360-3F75-156D-3A0BFFB8B58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AF65745-4B33-4FD7-C3A0-AE33EFCB05C2}"/>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1215746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59BBDA-DAD0-E4E0-9C29-0BA04ABA0D6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86EAF8A9-C469-923E-DAE2-A7A57B5240F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1E60065-463E-3594-E87A-4454D0B22023}"/>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5" name="Marcador de pie de página 4">
            <a:extLst>
              <a:ext uri="{FF2B5EF4-FFF2-40B4-BE49-F238E27FC236}">
                <a16:creationId xmlns:a16="http://schemas.microsoft.com/office/drawing/2014/main" id="{06C9058E-37BE-4EE5-9F13-6D9A6ADFB12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91859DD-80CF-C8B3-2BCB-D96DB2BBA336}"/>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3297336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9951C-373E-262C-3A15-87972E7EF3E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8E4B815-B5DE-E5C2-2495-1F6104088A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1318DFB-6B96-CB5F-6319-9B3DA7A61740}"/>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5" name="Marcador de pie de página 4">
            <a:extLst>
              <a:ext uri="{FF2B5EF4-FFF2-40B4-BE49-F238E27FC236}">
                <a16:creationId xmlns:a16="http://schemas.microsoft.com/office/drawing/2014/main" id="{DBC3AFC1-FD10-602F-4EEC-F161556181F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743530D-22F0-14B4-96F0-3FDBAF351668}"/>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1615931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B668F-55C4-F0C2-7782-E3CC465B917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7C92002-B12C-16CA-5A4E-E0459111738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D9FE7E09-FE51-994F-1E46-21F7BAF7DB9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09161543-A4C8-C786-E057-A50B66E21647}"/>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6" name="Marcador de pie de página 5">
            <a:extLst>
              <a:ext uri="{FF2B5EF4-FFF2-40B4-BE49-F238E27FC236}">
                <a16:creationId xmlns:a16="http://schemas.microsoft.com/office/drawing/2014/main" id="{8CDCBF10-B9AB-E25D-6303-1E006592E9C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16FD508B-A3A0-8C20-5613-4A877BA6D9F7}"/>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1926938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B6DB0E-85A4-DA8A-3EAF-13FBE3E4BAE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1A6F885-5CE5-73F1-9508-19FFA3BE40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89BA452-1350-2F84-492F-56F216C82D3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B168143A-827A-F2DA-C2BF-1007B2C17D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F530D82-53D3-A426-B403-66E92ED2F45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80909920-E5B2-3E5B-B6F5-9981EED5C776}"/>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8" name="Marcador de pie de página 7">
            <a:extLst>
              <a:ext uri="{FF2B5EF4-FFF2-40B4-BE49-F238E27FC236}">
                <a16:creationId xmlns:a16="http://schemas.microsoft.com/office/drawing/2014/main" id="{2DE2BF59-4D46-CF5D-C308-5DB393798977}"/>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44D2D44C-4B88-53B0-E4C2-D9B4E7CB3233}"/>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436960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543E7-6729-8773-3B1D-9CC035FDC06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2DE2473-9A08-C678-9EC5-1583C26CA6E1}"/>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4" name="Marcador de pie de página 3">
            <a:extLst>
              <a:ext uri="{FF2B5EF4-FFF2-40B4-BE49-F238E27FC236}">
                <a16:creationId xmlns:a16="http://schemas.microsoft.com/office/drawing/2014/main" id="{4F37B5EF-E875-EA69-22EB-CB8823BE83A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0C02168-4A8C-7162-BFFF-8F997F571180}"/>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1213093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D86122D-0EF6-697E-4C6D-A665D37C8EBB}"/>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3" name="Marcador de pie de página 2">
            <a:extLst>
              <a:ext uri="{FF2B5EF4-FFF2-40B4-BE49-F238E27FC236}">
                <a16:creationId xmlns:a16="http://schemas.microsoft.com/office/drawing/2014/main" id="{F2362C29-56C4-F3E0-89DF-175594AF980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10FD4530-7729-C7C5-5B2B-A71B66AD5DD0}"/>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116937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7D4038-F733-E83B-CCDC-CA5376E8845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D993852-A5CB-7236-A383-B00B3B42E6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B095275-9AD3-D368-C782-24A14DE2EB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D26C2CC-EDA6-B792-07BC-43B193E65EFA}"/>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6" name="Marcador de pie de página 5">
            <a:extLst>
              <a:ext uri="{FF2B5EF4-FFF2-40B4-BE49-F238E27FC236}">
                <a16:creationId xmlns:a16="http://schemas.microsoft.com/office/drawing/2014/main" id="{6247DFDB-321E-03F2-444C-9D338E55419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E16F9B8-0F4A-BD24-2E48-242AACBEEDDF}"/>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351922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48B041-03F0-90CB-94D2-C8E188C53F6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9BC8B15F-880F-901D-850A-04982BA89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BBCB256-F52F-69F2-9EB4-95ABAF61E0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95ED963-E207-3B79-2D24-B6F643F7BFF9}"/>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6" name="Marcador de pie de página 5">
            <a:extLst>
              <a:ext uri="{FF2B5EF4-FFF2-40B4-BE49-F238E27FC236}">
                <a16:creationId xmlns:a16="http://schemas.microsoft.com/office/drawing/2014/main" id="{262E069E-0F41-B79F-5A1B-11E2D4C892E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0C53293-AC18-C76A-C91F-0A65C05F9AC9}"/>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3464752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F73BD-746E-5C0E-088B-9B8A4C862FB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5467F30-E1D2-9885-2BDA-3FB5FA886AC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1CABB07F-AB81-96C4-7492-43ED2CE6BFA8}"/>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5" name="Marcador de pie de página 4">
            <a:extLst>
              <a:ext uri="{FF2B5EF4-FFF2-40B4-BE49-F238E27FC236}">
                <a16:creationId xmlns:a16="http://schemas.microsoft.com/office/drawing/2014/main" id="{551957E4-152A-2108-D642-B4BCCCA7366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B864687-32A5-E138-1D4A-5BFB81561466}"/>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107843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D5B66F-A08B-69A3-DA0C-EE0B0442391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22CD895-BC17-6139-25AA-8D770D1796F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EACF13D-BFA7-BFEC-56D2-A9490B2C59AB}"/>
              </a:ext>
            </a:extLst>
          </p:cNvPr>
          <p:cNvSpPr>
            <a:spLocks noGrp="1"/>
          </p:cNvSpPr>
          <p:nvPr>
            <p:ph type="dt" sz="half" idx="10"/>
          </p:nvPr>
        </p:nvSpPr>
        <p:spPr/>
        <p:txBody>
          <a:bodyPr/>
          <a:lstStyle/>
          <a:p>
            <a:fld id="{AD34C066-ACC0-407E-A7DB-0C7ED5F60F2A}" type="datetimeFigureOut">
              <a:rPr lang="es-MX" smtClean="0"/>
              <a:t>30/04/2025</a:t>
            </a:fld>
            <a:endParaRPr lang="es-MX"/>
          </a:p>
        </p:txBody>
      </p:sp>
      <p:sp>
        <p:nvSpPr>
          <p:cNvPr id="5" name="Marcador de pie de página 4">
            <a:extLst>
              <a:ext uri="{FF2B5EF4-FFF2-40B4-BE49-F238E27FC236}">
                <a16:creationId xmlns:a16="http://schemas.microsoft.com/office/drawing/2014/main" id="{12EF0F58-58AF-C528-D2CD-CF803F865BF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FD028C-FEE1-6676-8E40-7759749FBC64}"/>
              </a:ext>
            </a:extLst>
          </p:cNvPr>
          <p:cNvSpPr>
            <a:spLocks noGrp="1"/>
          </p:cNvSpPr>
          <p:nvPr>
            <p:ph type="sldNum" sz="quarter" idx="12"/>
          </p:nvPr>
        </p:nvSpPr>
        <p:spPr/>
        <p:txBody>
          <a:bodyPr/>
          <a:lstStyle/>
          <a:p>
            <a:fld id="{710939E9-4339-4A92-B8F0-76962262271E}" type="slidenum">
              <a:rPr lang="es-MX" smtClean="0"/>
              <a:t>‹Nº›</a:t>
            </a:fld>
            <a:endParaRPr lang="es-MX"/>
          </a:p>
        </p:txBody>
      </p:sp>
    </p:spTree>
    <p:extLst>
      <p:ext uri="{BB962C8B-B14F-4D97-AF65-F5344CB8AC3E}">
        <p14:creationId xmlns:p14="http://schemas.microsoft.com/office/powerpoint/2010/main" val="1452895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810F51E-ABA7-FA49-91A6-8C1593A6AC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B4EA414-8C74-BCF1-BAAE-F77B6CBF5D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B932D79-4CE4-8F10-FF01-40D389D27E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34C066-ACC0-407E-A7DB-0C7ED5F60F2A}" type="datetimeFigureOut">
              <a:rPr lang="es-MX" smtClean="0"/>
              <a:t>30/04/2025</a:t>
            </a:fld>
            <a:endParaRPr lang="es-MX"/>
          </a:p>
        </p:txBody>
      </p:sp>
      <p:sp>
        <p:nvSpPr>
          <p:cNvPr id="5" name="Marcador de pie de página 4">
            <a:extLst>
              <a:ext uri="{FF2B5EF4-FFF2-40B4-BE49-F238E27FC236}">
                <a16:creationId xmlns:a16="http://schemas.microsoft.com/office/drawing/2014/main" id="{1F4DE142-B129-6A90-2FFA-3188552CE5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83FDA144-E9A1-FF21-BE58-B817040C28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0939E9-4339-4A92-B8F0-76962262271E}" type="slidenum">
              <a:rPr lang="es-MX" smtClean="0"/>
              <a:t>‹Nº›</a:t>
            </a:fld>
            <a:endParaRPr lang="es-MX"/>
          </a:p>
        </p:txBody>
      </p:sp>
    </p:spTree>
    <p:extLst>
      <p:ext uri="{BB962C8B-B14F-4D97-AF65-F5344CB8AC3E}">
        <p14:creationId xmlns:p14="http://schemas.microsoft.com/office/powerpoint/2010/main" val="2641214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github.com/intelligence-csd-auth-gr/Ethos-Hate-Speech-Dataset" TargetMode="External"/><Relationship Id="rId2" Type="http://schemas.openxmlformats.org/officeDocument/2006/relationships/hyperlink" Target="https://arxiv.org/pdf/2412.03465" TargetMode="External"/><Relationship Id="rId1" Type="http://schemas.openxmlformats.org/officeDocument/2006/relationships/slideLayout" Target="../slideLayouts/slideLayout7.xml"/><Relationship Id="rId5" Type="http://schemas.openxmlformats.org/officeDocument/2006/relationships/hyperlink" Target="https://github.com/hate-alert/HateXplain" TargetMode="External"/><Relationship Id="rId4" Type="http://schemas.openxmlformats.org/officeDocument/2006/relationships/hyperlink" Target="https://huggingface.co/IMSyPP/hate_speech_en"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aclanthology.org/2025.chipsal-1.5.pdf" TargetMode="External"/><Relationship Id="rId2" Type="http://schemas.openxmlformats.org/officeDocument/2006/relationships/hyperlink" Target="https://www.sciencedirect.com/science/article/pii/S0885230824000652" TargetMode="External"/><Relationship Id="rId1" Type="http://schemas.openxmlformats.org/officeDocument/2006/relationships/slideLayout" Target="../slideLayouts/slideLayout7.xml"/><Relationship Id="rId4" Type="http://schemas.openxmlformats.org/officeDocument/2006/relationships/hyperlink" Target="https://link.springer.com/article/10.1007/s41060-023-00400-0/figures/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408E1-A68E-6D79-1E1E-655E9DB3A58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0C6324-BE46-C781-5872-F7CBD551CC4A}"/>
              </a:ext>
            </a:extLst>
          </p:cNvPr>
          <p:cNvSpPr txBox="1">
            <a:spLocks/>
          </p:cNvSpPr>
          <p:nvPr/>
        </p:nvSpPr>
        <p:spPr>
          <a:xfrm>
            <a:off x="838200" y="2380880"/>
            <a:ext cx="10515600" cy="209623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Hate Speech Detection in YouTube Music Video Comments </a:t>
            </a:r>
            <a:r>
              <a:rPr lang="en-US"/>
              <a:t>related to Metal gender</a:t>
            </a:r>
            <a:endParaRPr lang="es-MX" dirty="0"/>
          </a:p>
        </p:txBody>
      </p:sp>
    </p:spTree>
    <p:extLst>
      <p:ext uri="{BB962C8B-B14F-4D97-AF65-F5344CB8AC3E}">
        <p14:creationId xmlns:p14="http://schemas.microsoft.com/office/powerpoint/2010/main" val="4137100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75019-22B5-658C-E192-808B48CD7AC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5E8F53E5-517A-C71A-70AF-17533A573D59}"/>
              </a:ext>
            </a:extLst>
          </p:cNvPr>
          <p:cNvSpPr txBox="1"/>
          <p:nvPr/>
        </p:nvSpPr>
        <p:spPr>
          <a:xfrm>
            <a:off x="770903" y="403438"/>
            <a:ext cx="8771290" cy="1015663"/>
          </a:xfrm>
          <a:prstGeom prst="rect">
            <a:avLst/>
          </a:prstGeom>
          <a:noFill/>
        </p:spPr>
        <p:txBody>
          <a:bodyPr wrap="square" rtlCol="0">
            <a:spAutoFit/>
          </a:bodyPr>
          <a:lstStyle/>
          <a:p>
            <a:r>
              <a:rPr lang="es-MX" sz="6000" dirty="0"/>
              <a:t>INTRODUCTION:</a:t>
            </a:r>
            <a:endParaRPr lang="es-MX" sz="6000" i="1" dirty="0"/>
          </a:p>
        </p:txBody>
      </p:sp>
      <p:sp>
        <p:nvSpPr>
          <p:cNvPr id="2" name="CuadroTexto 1">
            <a:extLst>
              <a:ext uri="{FF2B5EF4-FFF2-40B4-BE49-F238E27FC236}">
                <a16:creationId xmlns:a16="http://schemas.microsoft.com/office/drawing/2014/main" id="{4C26FA9C-7951-1DB4-A154-B31B2F330D65}"/>
              </a:ext>
            </a:extLst>
          </p:cNvPr>
          <p:cNvSpPr txBox="1"/>
          <p:nvPr/>
        </p:nvSpPr>
        <p:spPr>
          <a:xfrm>
            <a:off x="725742" y="1419101"/>
            <a:ext cx="10740516" cy="1569660"/>
          </a:xfrm>
          <a:prstGeom prst="rect">
            <a:avLst/>
          </a:prstGeom>
          <a:noFill/>
        </p:spPr>
        <p:txBody>
          <a:bodyPr wrap="square" rtlCol="0">
            <a:spAutoFit/>
          </a:bodyPr>
          <a:lstStyle/>
          <a:p>
            <a:pPr algn="just"/>
            <a:r>
              <a:rPr lang="en-US" sz="2400" dirty="0"/>
              <a:t>On platforms like YouTube, comments on music videos can contain offensive messages targeting vulnerable communities. Detecting and mitigating this type of discourse can improve the environment and reduce the psychological impact on users.</a:t>
            </a:r>
          </a:p>
        </p:txBody>
      </p:sp>
    </p:spTree>
    <p:extLst>
      <p:ext uri="{BB962C8B-B14F-4D97-AF65-F5344CB8AC3E}">
        <p14:creationId xmlns:p14="http://schemas.microsoft.com/office/powerpoint/2010/main" val="4250223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133F4-1769-DABA-0345-E62B2E1EC6B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E0E79CF-07A9-AAE6-A593-919551379803}"/>
              </a:ext>
            </a:extLst>
          </p:cNvPr>
          <p:cNvSpPr txBox="1"/>
          <p:nvPr/>
        </p:nvSpPr>
        <p:spPr>
          <a:xfrm>
            <a:off x="770902" y="403438"/>
            <a:ext cx="10273615" cy="1015663"/>
          </a:xfrm>
          <a:prstGeom prst="rect">
            <a:avLst/>
          </a:prstGeom>
          <a:noFill/>
        </p:spPr>
        <p:txBody>
          <a:bodyPr wrap="square" rtlCol="0">
            <a:spAutoFit/>
          </a:bodyPr>
          <a:lstStyle/>
          <a:p>
            <a:r>
              <a:rPr lang="es-MX" sz="6000" dirty="0"/>
              <a:t>OBJECTIVES:</a:t>
            </a:r>
          </a:p>
        </p:txBody>
      </p:sp>
      <p:sp>
        <p:nvSpPr>
          <p:cNvPr id="2" name="CuadroTexto 1">
            <a:extLst>
              <a:ext uri="{FF2B5EF4-FFF2-40B4-BE49-F238E27FC236}">
                <a16:creationId xmlns:a16="http://schemas.microsoft.com/office/drawing/2014/main" id="{E5DEF8C3-DA48-EC05-A756-96EABDF390F9}"/>
              </a:ext>
            </a:extLst>
          </p:cNvPr>
          <p:cNvSpPr txBox="1"/>
          <p:nvPr/>
        </p:nvSpPr>
        <p:spPr>
          <a:xfrm>
            <a:off x="725742" y="1419101"/>
            <a:ext cx="10740516" cy="4893647"/>
          </a:xfrm>
          <a:prstGeom prst="rect">
            <a:avLst/>
          </a:prstGeom>
          <a:noFill/>
        </p:spPr>
        <p:txBody>
          <a:bodyPr wrap="square" rtlCol="0">
            <a:spAutoFit/>
          </a:bodyPr>
          <a:lstStyle/>
          <a:p>
            <a:r>
              <a:rPr lang="es-MX" sz="2400" b="1" dirty="0"/>
              <a:t>General:</a:t>
            </a:r>
          </a:p>
          <a:p>
            <a:r>
              <a:rPr lang="en-US" sz="2400" dirty="0"/>
              <a:t>Analyze and compare the performance of Transformer-based models and Mamba-based architectures in detecting hate speech in YouTube comments across metal bands.</a:t>
            </a:r>
            <a:endParaRPr lang="es-MX" sz="2400" dirty="0"/>
          </a:p>
          <a:p>
            <a:endParaRPr lang="es-MX" sz="2400" dirty="0"/>
          </a:p>
          <a:p>
            <a:endParaRPr lang="es-MX" sz="2400" dirty="0"/>
          </a:p>
          <a:p>
            <a:r>
              <a:rPr lang="es-MX" sz="2400" b="1" dirty="0" err="1"/>
              <a:t>Specific</a:t>
            </a:r>
            <a:r>
              <a:rPr lang="es-MX" sz="2400" b="1" dirty="0"/>
              <a:t>:</a:t>
            </a:r>
          </a:p>
          <a:p>
            <a:r>
              <a:rPr lang="en-US" sz="2400" dirty="0"/>
              <a:t>Train and evaluate Transformer-based and Mamba-based models on labeled datasets to detect hate speech in metal music video </a:t>
            </a:r>
            <a:r>
              <a:rPr lang="en-US" sz="2400" dirty="0" err="1"/>
              <a:t>youtube</a:t>
            </a:r>
            <a:r>
              <a:rPr lang="en-US" sz="2400" dirty="0"/>
              <a:t> comments.</a:t>
            </a:r>
          </a:p>
          <a:p>
            <a:endParaRPr lang="en-US" sz="2400" dirty="0"/>
          </a:p>
          <a:p>
            <a:endParaRPr lang="en-US" sz="2400" dirty="0"/>
          </a:p>
          <a:p>
            <a:r>
              <a:rPr lang="en-US" sz="2400" dirty="0"/>
              <a:t>Test models on multiple labeled datasets and measure the variation in performance to assess dataset bias and generalization potential.</a:t>
            </a:r>
            <a:endParaRPr lang="es-MX" sz="2400" dirty="0"/>
          </a:p>
        </p:txBody>
      </p:sp>
    </p:spTree>
    <p:extLst>
      <p:ext uri="{BB962C8B-B14F-4D97-AF65-F5344CB8AC3E}">
        <p14:creationId xmlns:p14="http://schemas.microsoft.com/office/powerpoint/2010/main" val="1577582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783B8-D7E0-A8F6-6E37-FC0292E1C0A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0324849-8948-1AA9-0AF0-8DCBD0756EED}"/>
              </a:ext>
            </a:extLst>
          </p:cNvPr>
          <p:cNvSpPr txBox="1"/>
          <p:nvPr/>
        </p:nvSpPr>
        <p:spPr>
          <a:xfrm>
            <a:off x="770902" y="403438"/>
            <a:ext cx="10273615" cy="1015663"/>
          </a:xfrm>
          <a:prstGeom prst="rect">
            <a:avLst/>
          </a:prstGeom>
          <a:noFill/>
        </p:spPr>
        <p:txBody>
          <a:bodyPr wrap="square" rtlCol="0">
            <a:spAutoFit/>
          </a:bodyPr>
          <a:lstStyle/>
          <a:p>
            <a:r>
              <a:rPr lang="es-MX" sz="6000" dirty="0"/>
              <a:t>JUSTIFICATION:</a:t>
            </a:r>
          </a:p>
        </p:txBody>
      </p:sp>
      <p:sp>
        <p:nvSpPr>
          <p:cNvPr id="2" name="CuadroTexto 1">
            <a:extLst>
              <a:ext uri="{FF2B5EF4-FFF2-40B4-BE49-F238E27FC236}">
                <a16:creationId xmlns:a16="http://schemas.microsoft.com/office/drawing/2014/main" id="{0090A299-A552-4B54-69A3-880F14BCDC53}"/>
              </a:ext>
            </a:extLst>
          </p:cNvPr>
          <p:cNvSpPr txBox="1"/>
          <p:nvPr/>
        </p:nvSpPr>
        <p:spPr>
          <a:xfrm>
            <a:off x="725742" y="1419101"/>
            <a:ext cx="10740516" cy="3046988"/>
          </a:xfrm>
          <a:prstGeom prst="rect">
            <a:avLst/>
          </a:prstGeom>
          <a:noFill/>
        </p:spPr>
        <p:txBody>
          <a:bodyPr wrap="square" rtlCol="0">
            <a:spAutoFit/>
          </a:bodyPr>
          <a:lstStyle/>
          <a:p>
            <a:r>
              <a:rPr lang="en-US" sz="2400" dirty="0"/>
              <a:t>YouTube is one of the most popular social media platforms, and music videos often receive millions of comments. Identifying and mitigating hate speech in these comments can contribute to a safer and more inclusive online environment.</a:t>
            </a:r>
          </a:p>
          <a:p>
            <a:endParaRPr lang="en-US" sz="2400" dirty="0"/>
          </a:p>
          <a:p>
            <a:endParaRPr lang="en-US" sz="2400" dirty="0"/>
          </a:p>
          <a:p>
            <a:r>
              <a:rPr lang="en-US" sz="2400" dirty="0"/>
              <a:t>The metal community have distinct linguistic and expressive styles. A comparative analysis can reveal unique patterns of hate speech in each genre and help tailor moderation strategies accordingly.</a:t>
            </a:r>
          </a:p>
        </p:txBody>
      </p:sp>
    </p:spTree>
    <p:extLst>
      <p:ext uri="{BB962C8B-B14F-4D97-AF65-F5344CB8AC3E}">
        <p14:creationId xmlns:p14="http://schemas.microsoft.com/office/powerpoint/2010/main" val="328405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3B7C7-6D5E-CFBC-1860-8195A98494C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B54449B-258B-89AC-2FC4-2A57B404E6A7}"/>
              </a:ext>
            </a:extLst>
          </p:cNvPr>
          <p:cNvSpPr txBox="1"/>
          <p:nvPr/>
        </p:nvSpPr>
        <p:spPr>
          <a:xfrm>
            <a:off x="770903" y="403438"/>
            <a:ext cx="8771290" cy="1015663"/>
          </a:xfrm>
          <a:prstGeom prst="rect">
            <a:avLst/>
          </a:prstGeom>
          <a:noFill/>
        </p:spPr>
        <p:txBody>
          <a:bodyPr wrap="square" rtlCol="0">
            <a:spAutoFit/>
          </a:bodyPr>
          <a:lstStyle/>
          <a:p>
            <a:r>
              <a:rPr lang="es-MX" sz="6000" b="0" i="0" dirty="0">
                <a:solidFill>
                  <a:srgbClr val="212121"/>
                </a:solidFill>
                <a:effectLst/>
                <a:latin typeface="Bitter"/>
              </a:rPr>
              <a:t>PROBLEMATIC</a:t>
            </a:r>
            <a:r>
              <a:rPr lang="es-MX" sz="6000" dirty="0"/>
              <a:t>:</a:t>
            </a:r>
          </a:p>
        </p:txBody>
      </p:sp>
      <p:sp>
        <p:nvSpPr>
          <p:cNvPr id="2" name="CuadroTexto 1">
            <a:extLst>
              <a:ext uri="{FF2B5EF4-FFF2-40B4-BE49-F238E27FC236}">
                <a16:creationId xmlns:a16="http://schemas.microsoft.com/office/drawing/2014/main" id="{99F014DD-6581-4028-665D-7C7F351B99C6}"/>
              </a:ext>
            </a:extLst>
          </p:cNvPr>
          <p:cNvSpPr txBox="1"/>
          <p:nvPr/>
        </p:nvSpPr>
        <p:spPr>
          <a:xfrm>
            <a:off x="725742" y="1419101"/>
            <a:ext cx="10740516" cy="3046988"/>
          </a:xfrm>
          <a:prstGeom prst="rect">
            <a:avLst/>
          </a:prstGeom>
          <a:noFill/>
        </p:spPr>
        <p:txBody>
          <a:bodyPr wrap="square" rtlCol="0">
            <a:spAutoFit/>
          </a:bodyPr>
          <a:lstStyle/>
          <a:p>
            <a:pPr algn="just"/>
            <a:r>
              <a:rPr lang="en-US" sz="2400" b="1" dirty="0"/>
              <a:t>Low accuracy in detecting hate speech in music comments:</a:t>
            </a:r>
          </a:p>
          <a:p>
            <a:pPr algn="just"/>
            <a:r>
              <a:rPr lang="en-US" sz="2400" dirty="0"/>
              <a:t>Many existing hate speech detection models fail to accurately classify toxic comments in music-related discussions due to slang, sarcasm, and cultural nuances.</a:t>
            </a:r>
          </a:p>
          <a:p>
            <a:pPr algn="just"/>
            <a:endParaRPr lang="en-US" sz="2400" dirty="0"/>
          </a:p>
          <a:p>
            <a:pPr algn="just"/>
            <a:endParaRPr lang="en-US" sz="2400" b="1" dirty="0"/>
          </a:p>
          <a:p>
            <a:pPr algn="just"/>
            <a:r>
              <a:rPr lang="en-US" sz="2400" b="1" dirty="0"/>
              <a:t>Contextual misinterpretation of hate speech in different genres:</a:t>
            </a:r>
          </a:p>
          <a:p>
            <a:pPr algn="just"/>
            <a:r>
              <a:rPr lang="en-US" sz="2400" dirty="0"/>
              <a:t>The metal community use language differently, making it difficult to distinguish between aggressive musical discourse and actual hate speech.</a:t>
            </a:r>
            <a:endParaRPr lang="es-MX" sz="2400" i="1" dirty="0"/>
          </a:p>
        </p:txBody>
      </p:sp>
    </p:spTree>
    <p:extLst>
      <p:ext uri="{BB962C8B-B14F-4D97-AF65-F5344CB8AC3E}">
        <p14:creationId xmlns:p14="http://schemas.microsoft.com/office/powerpoint/2010/main" val="342547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88D05-3AE0-A6F6-FBEC-80D3F5C1F471}"/>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6014F98-7DB2-AA81-9531-602E111B5C68}"/>
              </a:ext>
            </a:extLst>
          </p:cNvPr>
          <p:cNvSpPr txBox="1"/>
          <p:nvPr/>
        </p:nvSpPr>
        <p:spPr>
          <a:xfrm>
            <a:off x="717176" y="267651"/>
            <a:ext cx="10308828" cy="1015663"/>
          </a:xfrm>
          <a:prstGeom prst="rect">
            <a:avLst/>
          </a:prstGeom>
          <a:noFill/>
        </p:spPr>
        <p:txBody>
          <a:bodyPr wrap="square" rtlCol="0">
            <a:spAutoFit/>
          </a:bodyPr>
          <a:lstStyle/>
          <a:p>
            <a:r>
              <a:rPr lang="es-MX" sz="6000" dirty="0"/>
              <a:t>RESEARCH QUESTIONS:</a:t>
            </a:r>
          </a:p>
        </p:txBody>
      </p:sp>
      <p:sp>
        <p:nvSpPr>
          <p:cNvPr id="2" name="CuadroTexto 1">
            <a:extLst>
              <a:ext uri="{FF2B5EF4-FFF2-40B4-BE49-F238E27FC236}">
                <a16:creationId xmlns:a16="http://schemas.microsoft.com/office/drawing/2014/main" id="{70058542-979F-7BAB-33ED-4A125F43A805}"/>
              </a:ext>
            </a:extLst>
          </p:cNvPr>
          <p:cNvSpPr txBox="1"/>
          <p:nvPr/>
        </p:nvSpPr>
        <p:spPr>
          <a:xfrm>
            <a:off x="636494" y="1527210"/>
            <a:ext cx="10919012" cy="1938992"/>
          </a:xfrm>
          <a:prstGeom prst="rect">
            <a:avLst/>
          </a:prstGeom>
          <a:noFill/>
        </p:spPr>
        <p:txBody>
          <a:bodyPr wrap="square" rtlCol="0">
            <a:spAutoFit/>
          </a:bodyPr>
          <a:lstStyle/>
          <a:p>
            <a:r>
              <a:rPr lang="es-MX" sz="2400" dirty="0" err="1"/>
              <a:t>What</a:t>
            </a:r>
            <a:r>
              <a:rPr lang="es-MX" sz="2400" dirty="0"/>
              <a:t> </a:t>
            </a:r>
            <a:r>
              <a:rPr lang="es-MX" sz="2400" dirty="0" err="1"/>
              <a:t>is</a:t>
            </a:r>
            <a:r>
              <a:rPr lang="es-MX" sz="2400" dirty="0"/>
              <a:t> </a:t>
            </a:r>
            <a:r>
              <a:rPr lang="es-MX" sz="2400" dirty="0" err="1"/>
              <a:t>the</a:t>
            </a:r>
            <a:r>
              <a:rPr lang="es-MX" sz="2400" dirty="0"/>
              <a:t> performance of a </a:t>
            </a:r>
            <a:r>
              <a:rPr lang="es-MX" sz="2400" dirty="0" err="1"/>
              <a:t>transformer</a:t>
            </a:r>
            <a:r>
              <a:rPr lang="es-MX" sz="2400" dirty="0"/>
              <a:t> base </a:t>
            </a:r>
            <a:r>
              <a:rPr lang="es-MX" sz="2400" dirty="0" err="1"/>
              <a:t>model</a:t>
            </a:r>
            <a:r>
              <a:rPr lang="es-MX" sz="2400" dirty="0"/>
              <a:t> (Bert </a:t>
            </a:r>
            <a:r>
              <a:rPr lang="es-MX" sz="2400" dirty="0" err="1"/>
              <a:t>Uncased</a:t>
            </a:r>
            <a:r>
              <a:rPr lang="es-MX" sz="2400" dirty="0"/>
              <a:t>) </a:t>
            </a:r>
            <a:r>
              <a:rPr lang="es-MX" sz="2400" dirty="0" err="1"/>
              <a:t>compared</a:t>
            </a:r>
            <a:r>
              <a:rPr lang="es-MX" sz="2400" dirty="0"/>
              <a:t> </a:t>
            </a:r>
            <a:r>
              <a:rPr lang="es-MX" sz="2400" dirty="0" err="1"/>
              <a:t>with</a:t>
            </a:r>
            <a:r>
              <a:rPr lang="es-MX" sz="2400" dirty="0"/>
              <a:t> a </a:t>
            </a:r>
            <a:r>
              <a:rPr lang="es-MX" sz="2400" dirty="0" err="1"/>
              <a:t>transformer</a:t>
            </a:r>
            <a:r>
              <a:rPr lang="es-MX" sz="2400" dirty="0"/>
              <a:t> </a:t>
            </a:r>
            <a:r>
              <a:rPr lang="es-MX" sz="2400" dirty="0" err="1"/>
              <a:t>pre-trained</a:t>
            </a:r>
            <a:r>
              <a:rPr lang="es-MX" sz="2400" dirty="0"/>
              <a:t> </a:t>
            </a:r>
            <a:r>
              <a:rPr lang="es-MX" sz="2400" dirty="0" err="1"/>
              <a:t>model</a:t>
            </a:r>
            <a:r>
              <a:rPr lang="es-MX" sz="2400" dirty="0"/>
              <a:t> </a:t>
            </a:r>
            <a:r>
              <a:rPr lang="es-MX" sz="2400" dirty="0" err="1"/>
              <a:t>with</a:t>
            </a:r>
            <a:r>
              <a:rPr lang="es-MX" sz="2400" dirty="0"/>
              <a:t> </a:t>
            </a:r>
            <a:r>
              <a:rPr lang="es-MX" sz="2400" dirty="0" err="1"/>
              <a:t>toxic</a:t>
            </a:r>
            <a:r>
              <a:rPr lang="es-MX" sz="2400" dirty="0"/>
              <a:t> </a:t>
            </a:r>
            <a:r>
              <a:rPr lang="es-MX" sz="2400" dirty="0" err="1"/>
              <a:t>speech</a:t>
            </a:r>
            <a:r>
              <a:rPr lang="es-MX" sz="2400" dirty="0"/>
              <a:t> (</a:t>
            </a:r>
            <a:r>
              <a:rPr lang="es-MX" sz="2400" dirty="0" err="1"/>
              <a:t>HateBert</a:t>
            </a:r>
            <a:r>
              <a:rPr lang="es-MX" sz="2400" dirty="0"/>
              <a:t> - </a:t>
            </a:r>
            <a:r>
              <a:rPr lang="es-MX" sz="2400" dirty="0" err="1"/>
              <a:t>RoBerTa</a:t>
            </a:r>
            <a:r>
              <a:rPr lang="es-MX" sz="2400" dirty="0"/>
              <a:t>) ?</a:t>
            </a:r>
            <a:endParaRPr lang="es-MX" sz="2400" i="1" dirty="0"/>
          </a:p>
          <a:p>
            <a:endParaRPr lang="es-MX" sz="2400" dirty="0"/>
          </a:p>
          <a:p>
            <a:r>
              <a:rPr lang="en-US" sz="2400" dirty="0"/>
              <a:t>How does the consideration of the datasets impact the performance of the classification results, and how many of them are false positives?</a:t>
            </a:r>
          </a:p>
        </p:txBody>
      </p:sp>
    </p:spTree>
    <p:extLst>
      <p:ext uri="{BB962C8B-B14F-4D97-AF65-F5344CB8AC3E}">
        <p14:creationId xmlns:p14="http://schemas.microsoft.com/office/powerpoint/2010/main" val="4134650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70644-F327-62DD-2BDA-5077F3152A4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723115F-AEAB-3C70-0779-30ECDCF0738B}"/>
              </a:ext>
            </a:extLst>
          </p:cNvPr>
          <p:cNvSpPr txBox="1"/>
          <p:nvPr/>
        </p:nvSpPr>
        <p:spPr>
          <a:xfrm>
            <a:off x="3340227" y="2921168"/>
            <a:ext cx="5511545" cy="1015663"/>
          </a:xfrm>
          <a:prstGeom prst="rect">
            <a:avLst/>
          </a:prstGeom>
          <a:noFill/>
        </p:spPr>
        <p:txBody>
          <a:bodyPr wrap="square" rtlCol="0">
            <a:spAutoFit/>
          </a:bodyPr>
          <a:lstStyle/>
          <a:p>
            <a:r>
              <a:rPr lang="es-MX" sz="6000" dirty="0"/>
              <a:t>RELATED WORK</a:t>
            </a:r>
          </a:p>
        </p:txBody>
      </p:sp>
    </p:spTree>
    <p:extLst>
      <p:ext uri="{BB962C8B-B14F-4D97-AF65-F5344CB8AC3E}">
        <p14:creationId xmlns:p14="http://schemas.microsoft.com/office/powerpoint/2010/main" val="157258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5F0D6-A1BC-88D7-574F-379DFF0AB6C4}"/>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D04518B9-F89A-4F62-88ED-584F18830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37443"/>
            <a:ext cx="12192000" cy="4583113"/>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CF7AA72D-2DA7-AC1C-9BEA-C72E48B1BDAF}"/>
              </a:ext>
            </a:extLst>
          </p:cNvPr>
          <p:cNvSpPr txBox="1"/>
          <p:nvPr/>
        </p:nvSpPr>
        <p:spPr>
          <a:xfrm>
            <a:off x="295834" y="281952"/>
            <a:ext cx="6965577" cy="1569660"/>
          </a:xfrm>
          <a:prstGeom prst="rect">
            <a:avLst/>
          </a:prstGeom>
          <a:noFill/>
        </p:spPr>
        <p:txBody>
          <a:bodyPr wrap="square">
            <a:spAutoFit/>
          </a:bodyPr>
          <a:lstStyle/>
          <a:p>
            <a:r>
              <a:rPr lang="es-MX" sz="3200" dirty="0"/>
              <a:t>1. </a:t>
            </a:r>
            <a:r>
              <a:rPr lang="en-US" sz="3200" b="0" i="0" dirty="0">
                <a:solidFill>
                  <a:srgbClr val="1F1F1F"/>
                </a:solidFill>
                <a:effectLst/>
                <a:latin typeface="ElsevierGulliver"/>
              </a:rPr>
              <a:t>Misogynistic attitude detection in YouTube comments and replies: A high-quality dataset and algorithmic models</a:t>
            </a:r>
            <a:endParaRPr lang="es-MX" sz="3200" i="1" dirty="0"/>
          </a:p>
        </p:txBody>
      </p:sp>
    </p:spTree>
    <p:extLst>
      <p:ext uri="{BB962C8B-B14F-4D97-AF65-F5344CB8AC3E}">
        <p14:creationId xmlns:p14="http://schemas.microsoft.com/office/powerpoint/2010/main" val="3133895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80B18A1-E20A-8B5C-7859-B212022F0561}"/>
              </a:ext>
            </a:extLst>
          </p:cNvPr>
          <p:cNvPicPr>
            <a:picLocks noChangeAspect="1"/>
          </p:cNvPicPr>
          <p:nvPr/>
        </p:nvPicPr>
        <p:blipFill>
          <a:blip r:embed="rId2"/>
          <a:stretch>
            <a:fillRect/>
          </a:stretch>
        </p:blipFill>
        <p:spPr>
          <a:xfrm>
            <a:off x="2401420" y="628650"/>
            <a:ext cx="8572500" cy="5600700"/>
          </a:xfrm>
          <a:prstGeom prst="rect">
            <a:avLst/>
          </a:prstGeom>
        </p:spPr>
      </p:pic>
      <p:sp>
        <p:nvSpPr>
          <p:cNvPr id="4" name="CuadroTexto 3">
            <a:extLst>
              <a:ext uri="{FF2B5EF4-FFF2-40B4-BE49-F238E27FC236}">
                <a16:creationId xmlns:a16="http://schemas.microsoft.com/office/drawing/2014/main" id="{9C90D536-5D8E-E770-3965-DFEB4D131A61}"/>
              </a:ext>
            </a:extLst>
          </p:cNvPr>
          <p:cNvSpPr txBox="1"/>
          <p:nvPr/>
        </p:nvSpPr>
        <p:spPr>
          <a:xfrm>
            <a:off x="313765" y="290917"/>
            <a:ext cx="6096000" cy="1569660"/>
          </a:xfrm>
          <a:prstGeom prst="rect">
            <a:avLst/>
          </a:prstGeom>
          <a:noFill/>
        </p:spPr>
        <p:txBody>
          <a:bodyPr wrap="square">
            <a:spAutoFit/>
          </a:bodyPr>
          <a:lstStyle/>
          <a:p>
            <a:r>
              <a:rPr lang="en-US" sz="3200" dirty="0"/>
              <a:t>2. </a:t>
            </a:r>
            <a:r>
              <a:rPr lang="en-US" sz="3200" dirty="0" err="1"/>
              <a:t>DweshVaani</a:t>
            </a:r>
            <a:r>
              <a:rPr lang="en-US" sz="3200" dirty="0"/>
              <a:t>: An LLM for Detecting Religious Hate Speech in Code-Mixed Hindi-English</a:t>
            </a:r>
          </a:p>
        </p:txBody>
      </p:sp>
    </p:spTree>
    <p:extLst>
      <p:ext uri="{BB962C8B-B14F-4D97-AF65-F5344CB8AC3E}">
        <p14:creationId xmlns:p14="http://schemas.microsoft.com/office/powerpoint/2010/main" val="638150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 1">
            <a:extLst>
              <a:ext uri="{FF2B5EF4-FFF2-40B4-BE49-F238E27FC236}">
                <a16:creationId xmlns:a16="http://schemas.microsoft.com/office/drawing/2014/main" id="{277E9621-F809-ADF2-2AA7-F0911DDA9A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267" y="153444"/>
            <a:ext cx="9347466" cy="655111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53784E7F-3F91-FD5F-5D7F-A5220564AA21}"/>
              </a:ext>
            </a:extLst>
          </p:cNvPr>
          <p:cNvSpPr txBox="1"/>
          <p:nvPr/>
        </p:nvSpPr>
        <p:spPr>
          <a:xfrm>
            <a:off x="582706" y="299882"/>
            <a:ext cx="6096000" cy="1077218"/>
          </a:xfrm>
          <a:prstGeom prst="rect">
            <a:avLst/>
          </a:prstGeom>
          <a:noFill/>
        </p:spPr>
        <p:txBody>
          <a:bodyPr wrap="square">
            <a:spAutoFit/>
          </a:bodyPr>
          <a:lstStyle/>
          <a:p>
            <a:r>
              <a:rPr lang="en-US" sz="3200" dirty="0"/>
              <a:t>3. Detection of homophobia and transphobia in YouTube comments</a:t>
            </a:r>
            <a:endParaRPr lang="es-MX" sz="3200" dirty="0"/>
          </a:p>
        </p:txBody>
      </p:sp>
    </p:spTree>
    <p:extLst>
      <p:ext uri="{BB962C8B-B14F-4D97-AF65-F5344CB8AC3E}">
        <p14:creationId xmlns:p14="http://schemas.microsoft.com/office/powerpoint/2010/main" val="3993094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518B5-ED4F-6F56-0087-B35BFD0E965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376F354-F66A-F2EB-037F-34C26225AC09}"/>
              </a:ext>
            </a:extLst>
          </p:cNvPr>
          <p:cNvSpPr txBox="1"/>
          <p:nvPr/>
        </p:nvSpPr>
        <p:spPr>
          <a:xfrm>
            <a:off x="2294627" y="2923774"/>
            <a:ext cx="7602746" cy="1015663"/>
          </a:xfrm>
          <a:prstGeom prst="rect">
            <a:avLst/>
          </a:prstGeom>
          <a:noFill/>
        </p:spPr>
        <p:txBody>
          <a:bodyPr wrap="square" rtlCol="0">
            <a:spAutoFit/>
          </a:bodyPr>
          <a:lstStyle/>
          <a:p>
            <a:r>
              <a:rPr lang="es-MX" sz="6000" dirty="0"/>
              <a:t>RAW PROCESSING</a:t>
            </a:r>
            <a:endParaRPr lang="es-MX" sz="6000" i="1" dirty="0"/>
          </a:p>
        </p:txBody>
      </p:sp>
      <p:sp>
        <p:nvSpPr>
          <p:cNvPr id="2" name="CuadroTexto 1">
            <a:extLst>
              <a:ext uri="{FF2B5EF4-FFF2-40B4-BE49-F238E27FC236}">
                <a16:creationId xmlns:a16="http://schemas.microsoft.com/office/drawing/2014/main" id="{CF65E7E1-8BB1-2BE7-266D-2F8A6D4E1C37}"/>
              </a:ext>
            </a:extLst>
          </p:cNvPr>
          <p:cNvSpPr txBox="1"/>
          <p:nvPr/>
        </p:nvSpPr>
        <p:spPr>
          <a:xfrm>
            <a:off x="1062133" y="3936831"/>
            <a:ext cx="10067734" cy="830997"/>
          </a:xfrm>
          <a:prstGeom prst="rect">
            <a:avLst/>
          </a:prstGeom>
          <a:noFill/>
        </p:spPr>
        <p:txBody>
          <a:bodyPr wrap="square" rtlCol="0">
            <a:spAutoFit/>
          </a:bodyPr>
          <a:lstStyle/>
          <a:p>
            <a:r>
              <a:rPr lang="en-US" sz="2400" dirty="0"/>
              <a:t>Phase to determine all the necessary resources before moving on to the preprocessing stage.</a:t>
            </a:r>
            <a:endParaRPr lang="es-MX" sz="2400" i="1" dirty="0"/>
          </a:p>
        </p:txBody>
      </p:sp>
    </p:spTree>
    <p:extLst>
      <p:ext uri="{BB962C8B-B14F-4D97-AF65-F5344CB8AC3E}">
        <p14:creationId xmlns:p14="http://schemas.microsoft.com/office/powerpoint/2010/main" val="2965318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71F99-F22B-7121-6265-24046A49770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412508E-0045-D080-BE03-6B58675AED0C}"/>
              </a:ext>
            </a:extLst>
          </p:cNvPr>
          <p:cNvSpPr txBox="1"/>
          <p:nvPr/>
        </p:nvSpPr>
        <p:spPr>
          <a:xfrm>
            <a:off x="717176" y="470340"/>
            <a:ext cx="10757647" cy="4154984"/>
          </a:xfrm>
          <a:prstGeom prst="rect">
            <a:avLst/>
          </a:prstGeom>
          <a:noFill/>
        </p:spPr>
        <p:txBody>
          <a:bodyPr wrap="square" rtlCol="0">
            <a:spAutoFit/>
          </a:bodyPr>
          <a:lstStyle/>
          <a:p>
            <a:r>
              <a:rPr lang="en-US" sz="2400" dirty="0"/>
              <a:t>Databases to be used for the classifier training stage:</a:t>
            </a:r>
          </a:p>
          <a:p>
            <a:endParaRPr lang="en-US" sz="2400" dirty="0"/>
          </a:p>
          <a:p>
            <a:r>
              <a:rPr lang="en-US" sz="2400" b="1" dirty="0"/>
              <a:t>ETHOS Dataset: </a:t>
            </a:r>
            <a:r>
              <a:rPr lang="en-US" sz="2400" dirty="0"/>
              <a:t>Contains comments classified as hate speech and its different types. [2020]</a:t>
            </a:r>
          </a:p>
          <a:p>
            <a:endParaRPr lang="en-US" sz="2400" dirty="0"/>
          </a:p>
          <a:p>
            <a:r>
              <a:rPr lang="en-US" sz="2400" b="1" dirty="0" err="1"/>
              <a:t>HateXplain</a:t>
            </a:r>
            <a:r>
              <a:rPr lang="en-US" sz="2400" b="1" dirty="0"/>
              <a:t>: </a:t>
            </a:r>
            <a:r>
              <a:rPr lang="en-US" sz="2400" dirty="0"/>
              <a:t>A Benchmark Dataset for Explainable Hate Speech Detection. [2020]</a:t>
            </a:r>
          </a:p>
          <a:p>
            <a:endParaRPr lang="en-US" sz="2400" dirty="0"/>
          </a:p>
          <a:p>
            <a:r>
              <a:rPr lang="en-US" sz="2400" dirty="0"/>
              <a:t>Consider the datasets produced in each of the papers.</a:t>
            </a:r>
          </a:p>
          <a:p>
            <a:endParaRPr lang="en-US" sz="2400" dirty="0"/>
          </a:p>
          <a:p>
            <a:r>
              <a:rPr lang="en-US" sz="2400" dirty="0"/>
              <a:t>- </a:t>
            </a:r>
            <a:r>
              <a:rPr lang="en-US" sz="2400" i="1" dirty="0"/>
              <a:t>If two or more databases are selected, the normalization process for both databases will be considered.</a:t>
            </a:r>
            <a:endParaRPr lang="es-MX" sz="2400" i="1" dirty="0"/>
          </a:p>
        </p:txBody>
      </p:sp>
    </p:spTree>
    <p:extLst>
      <p:ext uri="{BB962C8B-B14F-4D97-AF65-F5344CB8AC3E}">
        <p14:creationId xmlns:p14="http://schemas.microsoft.com/office/powerpoint/2010/main" val="3183280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DCC17C3-D053-B927-AFBD-BDF787F92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5180" y="0"/>
            <a:ext cx="758507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578F6039-FD21-5F3C-CB43-C06192EA3279}"/>
              </a:ext>
            </a:extLst>
          </p:cNvPr>
          <p:cNvSpPr txBox="1"/>
          <p:nvPr/>
        </p:nvSpPr>
        <p:spPr>
          <a:xfrm>
            <a:off x="367553" y="348734"/>
            <a:ext cx="6096000" cy="461665"/>
          </a:xfrm>
          <a:prstGeom prst="rect">
            <a:avLst/>
          </a:prstGeom>
          <a:noFill/>
        </p:spPr>
        <p:txBody>
          <a:bodyPr wrap="square">
            <a:spAutoFit/>
          </a:bodyPr>
          <a:lstStyle/>
          <a:p>
            <a:r>
              <a:rPr lang="es-MX" sz="2400" b="1" dirty="0" err="1"/>
              <a:t>HateXplain</a:t>
            </a:r>
            <a:endParaRPr lang="es-MX" sz="2400" b="1" dirty="0"/>
          </a:p>
        </p:txBody>
      </p:sp>
    </p:spTree>
    <p:extLst>
      <p:ext uri="{BB962C8B-B14F-4D97-AF65-F5344CB8AC3E}">
        <p14:creationId xmlns:p14="http://schemas.microsoft.com/office/powerpoint/2010/main" val="765284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2A71F-7967-886F-14C2-EEA697C46A6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06CF818C-8046-8668-DC16-D0ED33D12B6E}"/>
              </a:ext>
            </a:extLst>
          </p:cNvPr>
          <p:cNvPicPr>
            <a:picLocks noChangeAspect="1"/>
          </p:cNvPicPr>
          <p:nvPr/>
        </p:nvPicPr>
        <p:blipFill>
          <a:blip r:embed="rId2"/>
          <a:stretch>
            <a:fillRect/>
          </a:stretch>
        </p:blipFill>
        <p:spPr>
          <a:xfrm>
            <a:off x="2402259" y="235610"/>
            <a:ext cx="9503149" cy="6386780"/>
          </a:xfrm>
          <a:prstGeom prst="rect">
            <a:avLst/>
          </a:prstGeom>
        </p:spPr>
      </p:pic>
      <p:sp>
        <p:nvSpPr>
          <p:cNvPr id="7" name="CuadroTexto 6">
            <a:extLst>
              <a:ext uri="{FF2B5EF4-FFF2-40B4-BE49-F238E27FC236}">
                <a16:creationId xmlns:a16="http://schemas.microsoft.com/office/drawing/2014/main" id="{131C7ACB-6C17-05BC-26CA-85D7D2A6BA1F}"/>
              </a:ext>
            </a:extLst>
          </p:cNvPr>
          <p:cNvSpPr txBox="1"/>
          <p:nvPr/>
        </p:nvSpPr>
        <p:spPr>
          <a:xfrm>
            <a:off x="161365" y="235610"/>
            <a:ext cx="6096000" cy="461665"/>
          </a:xfrm>
          <a:prstGeom prst="rect">
            <a:avLst/>
          </a:prstGeom>
          <a:noFill/>
        </p:spPr>
        <p:txBody>
          <a:bodyPr wrap="square">
            <a:spAutoFit/>
          </a:bodyPr>
          <a:lstStyle/>
          <a:p>
            <a:r>
              <a:rPr lang="es-MX" sz="2400" b="1" dirty="0"/>
              <a:t>ETHOS </a:t>
            </a:r>
            <a:r>
              <a:rPr lang="es-MX" sz="2400" b="1" dirty="0" err="1"/>
              <a:t>Dataset</a:t>
            </a:r>
            <a:endParaRPr lang="es-MX" sz="2400" b="1" dirty="0"/>
          </a:p>
        </p:txBody>
      </p:sp>
    </p:spTree>
    <p:extLst>
      <p:ext uri="{BB962C8B-B14F-4D97-AF65-F5344CB8AC3E}">
        <p14:creationId xmlns:p14="http://schemas.microsoft.com/office/powerpoint/2010/main" val="4060025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ADEAF-2A1C-F31D-0C13-5E877390E3B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2805D98-1421-7BA6-6788-03C74242ABF2}"/>
              </a:ext>
            </a:extLst>
          </p:cNvPr>
          <p:cNvPicPr>
            <a:picLocks noChangeAspect="1"/>
          </p:cNvPicPr>
          <p:nvPr/>
        </p:nvPicPr>
        <p:blipFill>
          <a:blip r:embed="rId2"/>
          <a:stretch>
            <a:fillRect/>
          </a:stretch>
        </p:blipFill>
        <p:spPr>
          <a:xfrm>
            <a:off x="104201" y="1201336"/>
            <a:ext cx="11983598" cy="4455327"/>
          </a:xfrm>
          <a:prstGeom prst="rect">
            <a:avLst/>
          </a:prstGeom>
        </p:spPr>
      </p:pic>
    </p:spTree>
    <p:extLst>
      <p:ext uri="{BB962C8B-B14F-4D97-AF65-F5344CB8AC3E}">
        <p14:creationId xmlns:p14="http://schemas.microsoft.com/office/powerpoint/2010/main" val="1005152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8743B-2AFA-3574-0FD1-331FF2E3AB2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A03561F-E1E0-C7E9-AF33-1F0C690B08A8}"/>
              </a:ext>
            </a:extLst>
          </p:cNvPr>
          <p:cNvSpPr txBox="1"/>
          <p:nvPr/>
        </p:nvSpPr>
        <p:spPr>
          <a:xfrm>
            <a:off x="3066220" y="159178"/>
            <a:ext cx="6059558" cy="1015663"/>
          </a:xfrm>
          <a:prstGeom prst="rect">
            <a:avLst/>
          </a:prstGeom>
          <a:noFill/>
        </p:spPr>
        <p:txBody>
          <a:bodyPr wrap="square" rtlCol="0">
            <a:spAutoFit/>
          </a:bodyPr>
          <a:lstStyle/>
          <a:p>
            <a:r>
              <a:rPr lang="es-MX" sz="6000" dirty="0"/>
              <a:t>TEXT PREPROCESS</a:t>
            </a:r>
            <a:endParaRPr lang="es-MX" sz="6000" i="1" dirty="0"/>
          </a:p>
        </p:txBody>
      </p:sp>
      <p:sp>
        <p:nvSpPr>
          <p:cNvPr id="4" name="CuadroTexto 3">
            <a:extLst>
              <a:ext uri="{FF2B5EF4-FFF2-40B4-BE49-F238E27FC236}">
                <a16:creationId xmlns:a16="http://schemas.microsoft.com/office/drawing/2014/main" id="{57F3DA92-DBC1-43D9-B435-3A27AF0C09EF}"/>
              </a:ext>
            </a:extLst>
          </p:cNvPr>
          <p:cNvSpPr txBox="1"/>
          <p:nvPr/>
        </p:nvSpPr>
        <p:spPr>
          <a:xfrm>
            <a:off x="717176" y="1528175"/>
            <a:ext cx="10757647" cy="4154984"/>
          </a:xfrm>
          <a:prstGeom prst="rect">
            <a:avLst/>
          </a:prstGeom>
          <a:noFill/>
        </p:spPr>
        <p:txBody>
          <a:bodyPr wrap="square" rtlCol="0">
            <a:spAutoFit/>
          </a:bodyPr>
          <a:lstStyle/>
          <a:p>
            <a:r>
              <a:rPr lang="es-MX" sz="2400" dirty="0"/>
              <a:t>¿</a:t>
            </a:r>
            <a:r>
              <a:rPr lang="en-US" sz="2400" dirty="0"/>
              <a:t>What would the preprocessing steps for classifier training look like?</a:t>
            </a:r>
          </a:p>
          <a:p>
            <a:endParaRPr lang="en-US" sz="2400" dirty="0"/>
          </a:p>
          <a:p>
            <a:r>
              <a:rPr lang="en-US" sz="2400" dirty="0"/>
              <a:t>Removal of duplicates and irrelevant comments.</a:t>
            </a:r>
          </a:p>
          <a:p>
            <a:r>
              <a:rPr lang="en-US" sz="2400" dirty="0"/>
              <a:t>Text normalization (lowercase, removal of special characters).</a:t>
            </a:r>
          </a:p>
          <a:p>
            <a:r>
              <a:rPr lang="en-US" sz="2400" dirty="0"/>
              <a:t>Removal of </a:t>
            </a:r>
            <a:r>
              <a:rPr lang="en-US" sz="2400" dirty="0" err="1"/>
              <a:t>stopwords</a:t>
            </a:r>
            <a:r>
              <a:rPr lang="en-US" sz="2400" dirty="0"/>
              <a:t> (including articles).</a:t>
            </a:r>
          </a:p>
          <a:p>
            <a:r>
              <a:rPr lang="en-US" sz="2400" dirty="0"/>
              <a:t>Application of lemmatization and stemming.</a:t>
            </a:r>
          </a:p>
          <a:p>
            <a:r>
              <a:rPr lang="en-US" sz="2400" dirty="0"/>
              <a:t>Conservate the English language comments only.</a:t>
            </a:r>
          </a:p>
          <a:p>
            <a:endParaRPr lang="en-US" sz="2400" dirty="0"/>
          </a:p>
          <a:p>
            <a:r>
              <a:rPr lang="en-US" sz="2400" b="1" dirty="0"/>
              <a:t>From the tagged datasets how can I expand the training examples.</a:t>
            </a:r>
            <a:endParaRPr lang="es-MX" sz="2400" b="1" dirty="0"/>
          </a:p>
          <a:p>
            <a:pPr marL="457200" indent="-457200">
              <a:buFont typeface="+mj-lt"/>
              <a:buAutoNum type="arabicPeriod"/>
            </a:pPr>
            <a:endParaRPr lang="es-MX" sz="2400" dirty="0"/>
          </a:p>
          <a:p>
            <a:endParaRPr lang="es-MX" sz="2400" dirty="0"/>
          </a:p>
        </p:txBody>
      </p:sp>
    </p:spTree>
    <p:extLst>
      <p:ext uri="{BB962C8B-B14F-4D97-AF65-F5344CB8AC3E}">
        <p14:creationId xmlns:p14="http://schemas.microsoft.com/office/powerpoint/2010/main" val="3880589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FA400-2F8E-5254-631E-D29BC4D4A22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A43ED5C-FCA7-F761-A66B-09ACD0601A3F}"/>
              </a:ext>
            </a:extLst>
          </p:cNvPr>
          <p:cNvSpPr txBox="1"/>
          <p:nvPr/>
        </p:nvSpPr>
        <p:spPr>
          <a:xfrm>
            <a:off x="717176" y="2263281"/>
            <a:ext cx="10757647" cy="2677656"/>
          </a:xfrm>
          <a:prstGeom prst="rect">
            <a:avLst/>
          </a:prstGeom>
          <a:noFill/>
        </p:spPr>
        <p:txBody>
          <a:bodyPr wrap="square" rtlCol="0">
            <a:spAutoFit/>
          </a:bodyPr>
          <a:lstStyle/>
          <a:p>
            <a:r>
              <a:rPr lang="en-US" sz="2400" dirty="0"/>
              <a:t>How would a classifier be built to take into account a Transformers-based model of words or phrases that involve hate speech or not?</a:t>
            </a:r>
          </a:p>
          <a:p>
            <a:endParaRPr lang="en-US" sz="2400" dirty="0"/>
          </a:p>
          <a:p>
            <a:r>
              <a:rPr lang="en-US" sz="2400" dirty="0"/>
              <a:t>Construction of the binary labeled data corpus (hate speech or not).</a:t>
            </a:r>
          </a:p>
          <a:p>
            <a:r>
              <a:rPr lang="en-US" sz="2400" dirty="0"/>
              <a:t>Text preprocessing (tokenization, </a:t>
            </a:r>
            <a:r>
              <a:rPr lang="en-US" sz="2400" dirty="0" err="1"/>
              <a:t>stopword</a:t>
            </a:r>
            <a:r>
              <a:rPr lang="en-US" sz="2400" dirty="0"/>
              <a:t> removal, lemmatization).</a:t>
            </a:r>
          </a:p>
          <a:p>
            <a:r>
              <a:rPr lang="en-US" sz="2400" dirty="0"/>
              <a:t>Construction of the classifier with Transformers.</a:t>
            </a:r>
          </a:p>
          <a:p>
            <a:r>
              <a:rPr lang="en-US" sz="2400" dirty="0"/>
              <a:t>Performance evaluation in the </a:t>
            </a:r>
            <a:r>
              <a:rPr lang="en-US" sz="2400" dirty="0" err="1"/>
              <a:t>youtube</a:t>
            </a:r>
            <a:r>
              <a:rPr lang="en-US" sz="2400" dirty="0"/>
              <a:t> comments dataset </a:t>
            </a:r>
            <a:r>
              <a:rPr lang="en-US" sz="2400" dirty="0" err="1"/>
              <a:t>builded</a:t>
            </a:r>
            <a:r>
              <a:rPr lang="en-US" sz="2400" dirty="0"/>
              <a:t>.</a:t>
            </a:r>
            <a:endParaRPr lang="es-MX" sz="2400" dirty="0"/>
          </a:p>
        </p:txBody>
      </p:sp>
      <p:sp>
        <p:nvSpPr>
          <p:cNvPr id="2" name="CuadroTexto 1">
            <a:extLst>
              <a:ext uri="{FF2B5EF4-FFF2-40B4-BE49-F238E27FC236}">
                <a16:creationId xmlns:a16="http://schemas.microsoft.com/office/drawing/2014/main" id="{55CD39A8-3FDA-6823-259D-750FD5B93871}"/>
              </a:ext>
            </a:extLst>
          </p:cNvPr>
          <p:cNvSpPr txBox="1"/>
          <p:nvPr/>
        </p:nvSpPr>
        <p:spPr>
          <a:xfrm>
            <a:off x="797858" y="233547"/>
            <a:ext cx="10676965" cy="1938992"/>
          </a:xfrm>
          <a:prstGeom prst="rect">
            <a:avLst/>
          </a:prstGeom>
          <a:noFill/>
        </p:spPr>
        <p:txBody>
          <a:bodyPr wrap="square" rtlCol="0">
            <a:spAutoFit/>
          </a:bodyPr>
          <a:lstStyle/>
          <a:p>
            <a:r>
              <a:rPr lang="es-MX" sz="6000" dirty="0"/>
              <a:t>MODEL BASED ON TRANSFORMERS</a:t>
            </a:r>
          </a:p>
        </p:txBody>
      </p:sp>
    </p:spTree>
    <p:extLst>
      <p:ext uri="{BB962C8B-B14F-4D97-AF65-F5344CB8AC3E}">
        <p14:creationId xmlns:p14="http://schemas.microsoft.com/office/powerpoint/2010/main" val="3487453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EE5C3-0C5C-A75B-8ED3-1EDBD43EC62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BDBA223-4085-6284-C18C-BBAFFE2C8C74}"/>
              </a:ext>
            </a:extLst>
          </p:cNvPr>
          <p:cNvSpPr txBox="1"/>
          <p:nvPr/>
        </p:nvSpPr>
        <p:spPr>
          <a:xfrm>
            <a:off x="556396" y="204898"/>
            <a:ext cx="8999398" cy="1015663"/>
          </a:xfrm>
          <a:prstGeom prst="rect">
            <a:avLst/>
          </a:prstGeom>
          <a:noFill/>
        </p:spPr>
        <p:txBody>
          <a:bodyPr wrap="square" rtlCol="0">
            <a:spAutoFit/>
          </a:bodyPr>
          <a:lstStyle/>
          <a:p>
            <a:r>
              <a:rPr lang="es-MX" sz="6000" dirty="0"/>
              <a:t>MODEL BASED ON MAMBA:</a:t>
            </a:r>
          </a:p>
        </p:txBody>
      </p:sp>
      <p:sp>
        <p:nvSpPr>
          <p:cNvPr id="2" name="CuadroTexto 1">
            <a:extLst>
              <a:ext uri="{FF2B5EF4-FFF2-40B4-BE49-F238E27FC236}">
                <a16:creationId xmlns:a16="http://schemas.microsoft.com/office/drawing/2014/main" id="{671F4F5B-DC91-66BB-87C8-0B87BF46E9C3}"/>
              </a:ext>
            </a:extLst>
          </p:cNvPr>
          <p:cNvSpPr txBox="1"/>
          <p:nvPr/>
        </p:nvSpPr>
        <p:spPr>
          <a:xfrm>
            <a:off x="717176" y="1599893"/>
            <a:ext cx="10757647" cy="2677656"/>
          </a:xfrm>
          <a:prstGeom prst="rect">
            <a:avLst/>
          </a:prstGeom>
          <a:noFill/>
        </p:spPr>
        <p:txBody>
          <a:bodyPr wrap="square" rtlCol="0">
            <a:spAutoFit/>
          </a:bodyPr>
          <a:lstStyle/>
          <a:p>
            <a:r>
              <a:rPr lang="en-US" sz="2400" dirty="0"/>
              <a:t>How would a classifier be built to take into account a Mamba-based model of words or phrases that involve hate speech or not?</a:t>
            </a:r>
          </a:p>
          <a:p>
            <a:endParaRPr lang="en-US" sz="2400" dirty="0"/>
          </a:p>
          <a:p>
            <a:r>
              <a:rPr lang="en-US" sz="2400" dirty="0"/>
              <a:t>Construction of the binary labeled data corpus (hate speech or not).</a:t>
            </a:r>
          </a:p>
          <a:p>
            <a:r>
              <a:rPr lang="en-US" sz="2400" dirty="0"/>
              <a:t>Text preprocessing (tokenization, </a:t>
            </a:r>
            <a:r>
              <a:rPr lang="en-US" sz="2400" dirty="0" err="1"/>
              <a:t>stopword</a:t>
            </a:r>
            <a:r>
              <a:rPr lang="en-US" sz="2400" dirty="0"/>
              <a:t> removal, lemmatization). </a:t>
            </a:r>
          </a:p>
          <a:p>
            <a:r>
              <a:rPr lang="en-US" sz="2400" dirty="0"/>
              <a:t>Construction of the classifier with Mamba.</a:t>
            </a:r>
          </a:p>
          <a:p>
            <a:r>
              <a:rPr lang="en-US" sz="2400" dirty="0"/>
              <a:t>Performance evaluation in the </a:t>
            </a:r>
            <a:r>
              <a:rPr lang="en-US" sz="2400" dirty="0" err="1"/>
              <a:t>youtube</a:t>
            </a:r>
            <a:r>
              <a:rPr lang="en-US" sz="2400" dirty="0"/>
              <a:t> comments dataset </a:t>
            </a:r>
            <a:r>
              <a:rPr lang="en-US" sz="2400" dirty="0" err="1"/>
              <a:t>builded</a:t>
            </a:r>
            <a:r>
              <a:rPr lang="en-US" sz="2400" dirty="0"/>
              <a:t>.</a:t>
            </a:r>
            <a:endParaRPr lang="es-MX" sz="2400" dirty="0"/>
          </a:p>
        </p:txBody>
      </p:sp>
    </p:spTree>
    <p:extLst>
      <p:ext uri="{BB962C8B-B14F-4D97-AF65-F5344CB8AC3E}">
        <p14:creationId xmlns:p14="http://schemas.microsoft.com/office/powerpoint/2010/main" val="3889136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A861-1CC8-9A95-28E2-E5E6358EFF6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645876DF-4671-F138-BC43-F12A3E15FD80}"/>
              </a:ext>
            </a:extLst>
          </p:cNvPr>
          <p:cNvSpPr txBox="1"/>
          <p:nvPr/>
        </p:nvSpPr>
        <p:spPr>
          <a:xfrm>
            <a:off x="1596301" y="1997839"/>
            <a:ext cx="8999398" cy="1015663"/>
          </a:xfrm>
          <a:prstGeom prst="rect">
            <a:avLst/>
          </a:prstGeom>
          <a:noFill/>
        </p:spPr>
        <p:txBody>
          <a:bodyPr wrap="square" rtlCol="0">
            <a:spAutoFit/>
          </a:bodyPr>
          <a:lstStyle/>
          <a:p>
            <a:r>
              <a:rPr lang="es-MX" sz="6000" dirty="0"/>
              <a:t>EVALUATION</a:t>
            </a:r>
          </a:p>
        </p:txBody>
      </p:sp>
    </p:spTree>
    <p:extLst>
      <p:ext uri="{BB962C8B-B14F-4D97-AF65-F5344CB8AC3E}">
        <p14:creationId xmlns:p14="http://schemas.microsoft.com/office/powerpoint/2010/main" val="2609511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D17A6-83D3-C529-7C0A-4F243CA3454D}"/>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2A087E1-7BFE-064A-A05F-F5247790D03F}"/>
              </a:ext>
            </a:extLst>
          </p:cNvPr>
          <p:cNvSpPr txBox="1"/>
          <p:nvPr/>
        </p:nvSpPr>
        <p:spPr>
          <a:xfrm>
            <a:off x="717176" y="470340"/>
            <a:ext cx="10757647" cy="5509200"/>
          </a:xfrm>
          <a:prstGeom prst="rect">
            <a:avLst/>
          </a:prstGeom>
          <a:noFill/>
        </p:spPr>
        <p:txBody>
          <a:bodyPr wrap="square" rtlCol="0">
            <a:spAutoFit/>
          </a:bodyPr>
          <a:lstStyle/>
          <a:p>
            <a:r>
              <a:rPr lang="es-MX" sz="3200" b="1" dirty="0"/>
              <a:t>METRICS TO CONSIDER:</a:t>
            </a:r>
          </a:p>
          <a:p>
            <a:endParaRPr lang="es-MX" sz="3200" b="1" dirty="0"/>
          </a:p>
          <a:p>
            <a:r>
              <a:rPr lang="es-MX" sz="3200" b="1" dirty="0"/>
              <a:t>CLASSIFIER: </a:t>
            </a:r>
            <a:r>
              <a:rPr lang="es-MX" sz="3200" dirty="0"/>
              <a:t>F1-Score, </a:t>
            </a:r>
            <a:r>
              <a:rPr lang="es-MX" sz="3200" dirty="0" err="1"/>
              <a:t>Accuracy</a:t>
            </a:r>
            <a:r>
              <a:rPr lang="es-MX" sz="3200" dirty="0"/>
              <a:t>. (Compare </a:t>
            </a:r>
            <a:r>
              <a:rPr lang="es-MX" sz="3200" dirty="0" err="1"/>
              <a:t>with</a:t>
            </a:r>
            <a:r>
              <a:rPr lang="es-MX" sz="3200" dirty="0"/>
              <a:t> LLM </a:t>
            </a:r>
            <a:r>
              <a:rPr lang="es-MX" sz="3200" dirty="0" err="1"/>
              <a:t>models</a:t>
            </a:r>
            <a:r>
              <a:rPr lang="es-MX" sz="3200" dirty="0"/>
              <a:t> </a:t>
            </a:r>
            <a:r>
              <a:rPr lang="es-MX" sz="3200" dirty="0" err="1"/>
              <a:t>to</a:t>
            </a:r>
            <a:r>
              <a:rPr lang="es-MX" sz="3200" dirty="0"/>
              <a:t> </a:t>
            </a:r>
            <a:r>
              <a:rPr lang="es-MX" sz="3200" dirty="0" err="1"/>
              <a:t>see</a:t>
            </a:r>
            <a:r>
              <a:rPr lang="es-MX" sz="3200" dirty="0"/>
              <a:t> performance </a:t>
            </a:r>
            <a:r>
              <a:rPr lang="es-MX" sz="3200" dirty="0" err="1"/>
              <a:t>for</a:t>
            </a:r>
            <a:r>
              <a:rPr lang="es-MX" sz="3200" dirty="0"/>
              <a:t> </a:t>
            </a:r>
            <a:r>
              <a:rPr lang="es-MX" sz="3200" dirty="0" err="1"/>
              <a:t>each</a:t>
            </a:r>
            <a:r>
              <a:rPr lang="es-MX" sz="3200" dirty="0"/>
              <a:t> </a:t>
            </a:r>
            <a:r>
              <a:rPr lang="es-MX" sz="3200" dirty="0" err="1"/>
              <a:t>selected</a:t>
            </a:r>
            <a:r>
              <a:rPr lang="es-MX" sz="3200" dirty="0"/>
              <a:t> </a:t>
            </a:r>
            <a:r>
              <a:rPr lang="es-MX" sz="3200" dirty="0" err="1"/>
              <a:t>model</a:t>
            </a:r>
            <a:r>
              <a:rPr lang="es-MX" sz="3200" dirty="0"/>
              <a:t>, </a:t>
            </a:r>
            <a:r>
              <a:rPr lang="es-MX" sz="3200" dirty="0" err="1"/>
              <a:t>considering</a:t>
            </a:r>
            <a:r>
              <a:rPr lang="es-MX" sz="3200" dirty="0"/>
              <a:t> </a:t>
            </a:r>
            <a:r>
              <a:rPr lang="es-MX" sz="3200" dirty="0" err="1"/>
              <a:t>ZeroShot</a:t>
            </a:r>
            <a:r>
              <a:rPr lang="es-MX" sz="3200" dirty="0"/>
              <a:t> </a:t>
            </a:r>
            <a:r>
              <a:rPr lang="es-MX" sz="3200" dirty="0" err="1"/>
              <a:t>learning</a:t>
            </a:r>
            <a:r>
              <a:rPr lang="es-MX" sz="3200" dirty="0"/>
              <a:t>).</a:t>
            </a:r>
          </a:p>
          <a:p>
            <a:endParaRPr lang="es-MX" sz="3200" b="1" dirty="0"/>
          </a:p>
          <a:p>
            <a:r>
              <a:rPr lang="es-MX" sz="3200" b="1" dirty="0"/>
              <a:t>REPRESENTATION: </a:t>
            </a:r>
            <a:r>
              <a:rPr lang="es-MX" sz="3200" dirty="0" err="1"/>
              <a:t>Cosine</a:t>
            </a:r>
            <a:r>
              <a:rPr lang="es-MX" sz="3200" dirty="0"/>
              <a:t> </a:t>
            </a:r>
            <a:r>
              <a:rPr lang="es-MX" sz="3200" dirty="0" err="1"/>
              <a:t>Distance</a:t>
            </a:r>
            <a:r>
              <a:rPr lang="es-MX" sz="3200" dirty="0"/>
              <a:t> (</a:t>
            </a:r>
            <a:r>
              <a:rPr lang="es-MX" sz="3200" dirty="0" err="1"/>
              <a:t>Hate</a:t>
            </a:r>
            <a:r>
              <a:rPr lang="es-MX" sz="3200" dirty="0"/>
              <a:t> </a:t>
            </a:r>
            <a:r>
              <a:rPr lang="es-MX" sz="3200" dirty="0" err="1"/>
              <a:t>Speech</a:t>
            </a:r>
            <a:r>
              <a:rPr lang="es-MX" sz="3200" dirty="0"/>
              <a:t> </a:t>
            </a:r>
            <a:r>
              <a:rPr lang="es-MX" sz="3200" dirty="0" err="1"/>
              <a:t>Prototypes</a:t>
            </a:r>
            <a:r>
              <a:rPr lang="es-MX" sz="3200" dirty="0"/>
              <a:t>), </a:t>
            </a:r>
            <a:r>
              <a:rPr lang="es-MX" sz="3200" dirty="0" err="1"/>
              <a:t>Euclidean</a:t>
            </a:r>
            <a:r>
              <a:rPr lang="es-MX" sz="3200" dirty="0"/>
              <a:t> </a:t>
            </a:r>
            <a:r>
              <a:rPr lang="es-MX" sz="3200" dirty="0" err="1"/>
              <a:t>Distance</a:t>
            </a:r>
            <a:r>
              <a:rPr lang="es-MX" sz="3200" dirty="0"/>
              <a:t>, </a:t>
            </a:r>
            <a:r>
              <a:rPr lang="es-MX" sz="3200" dirty="0" err="1"/>
              <a:t>Perplexity</a:t>
            </a:r>
            <a:r>
              <a:rPr lang="es-MX" sz="3200" dirty="0"/>
              <a:t>.</a:t>
            </a:r>
          </a:p>
          <a:p>
            <a:endParaRPr lang="es-MX" sz="3200" b="1" dirty="0"/>
          </a:p>
          <a:p>
            <a:r>
              <a:rPr lang="es-MX" sz="3200" b="1" dirty="0"/>
              <a:t>INFORMATION RECOVERY: </a:t>
            </a:r>
            <a:r>
              <a:rPr lang="es-MX" sz="3200" dirty="0"/>
              <a:t>Mean </a:t>
            </a:r>
            <a:r>
              <a:rPr lang="es-MX" sz="3200" dirty="0" err="1"/>
              <a:t>Average</a:t>
            </a:r>
            <a:r>
              <a:rPr lang="es-MX" sz="3200" dirty="0"/>
              <a:t> </a:t>
            </a:r>
            <a:r>
              <a:rPr lang="es-MX" sz="3200" dirty="0" err="1"/>
              <a:t>Precision</a:t>
            </a:r>
            <a:r>
              <a:rPr lang="es-MX" sz="3200" dirty="0"/>
              <a:t> (MAP), NDCG (</a:t>
            </a:r>
            <a:r>
              <a:rPr lang="es-MX" sz="3200" dirty="0" err="1"/>
              <a:t>Normalized</a:t>
            </a:r>
            <a:r>
              <a:rPr lang="es-MX" sz="3200" dirty="0"/>
              <a:t> </a:t>
            </a:r>
            <a:r>
              <a:rPr lang="es-MX" sz="3200" dirty="0" err="1"/>
              <a:t>Discounted</a:t>
            </a:r>
            <a:r>
              <a:rPr lang="es-MX" sz="3200" dirty="0"/>
              <a:t> Cumulative </a:t>
            </a:r>
            <a:r>
              <a:rPr lang="es-MX" sz="3200" dirty="0" err="1"/>
              <a:t>Gain</a:t>
            </a:r>
            <a:r>
              <a:rPr lang="es-MX" sz="3200" dirty="0"/>
              <a:t>).</a:t>
            </a:r>
            <a:endParaRPr lang="es-MX" sz="2400" dirty="0"/>
          </a:p>
        </p:txBody>
      </p:sp>
    </p:spTree>
    <p:extLst>
      <p:ext uri="{BB962C8B-B14F-4D97-AF65-F5344CB8AC3E}">
        <p14:creationId xmlns:p14="http://schemas.microsoft.com/office/powerpoint/2010/main" val="3655941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2FAF4-2414-39F2-20BB-8D87A757D63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A6C7BF6-081B-BEB4-A223-D0ACB1EFFDCE}"/>
              </a:ext>
            </a:extLst>
          </p:cNvPr>
          <p:cNvSpPr txBox="1"/>
          <p:nvPr/>
        </p:nvSpPr>
        <p:spPr>
          <a:xfrm>
            <a:off x="717176" y="470340"/>
            <a:ext cx="10757647" cy="5509200"/>
          </a:xfrm>
          <a:prstGeom prst="rect">
            <a:avLst/>
          </a:prstGeom>
          <a:noFill/>
        </p:spPr>
        <p:txBody>
          <a:bodyPr wrap="square" rtlCol="0">
            <a:spAutoFit/>
          </a:bodyPr>
          <a:lstStyle/>
          <a:p>
            <a:r>
              <a:rPr lang="es-MX" sz="3200" b="1" dirty="0"/>
              <a:t>METRICS TO CONSIDER:</a:t>
            </a:r>
          </a:p>
          <a:p>
            <a:endParaRPr lang="es-MX" sz="3200" b="1" dirty="0"/>
          </a:p>
          <a:p>
            <a:pPr>
              <a:buNone/>
            </a:pPr>
            <a:r>
              <a:rPr lang="en-US" sz="3200" b="1" dirty="0"/>
              <a:t>Validation Loss:</a:t>
            </a:r>
          </a:p>
          <a:p>
            <a:pPr>
              <a:buNone/>
            </a:pPr>
            <a:r>
              <a:rPr lang="en-US" sz="3200" b="1" dirty="0"/>
              <a:t>Low validation loss</a:t>
            </a:r>
            <a:r>
              <a:rPr lang="en-US" sz="3200" dirty="0"/>
              <a:t>: The model generalizes well to unseen data.</a:t>
            </a:r>
          </a:p>
          <a:p>
            <a:pPr>
              <a:buNone/>
            </a:pPr>
            <a:endParaRPr lang="en-US" sz="3200" dirty="0"/>
          </a:p>
          <a:p>
            <a:pPr>
              <a:buNone/>
            </a:pPr>
            <a:r>
              <a:rPr lang="en-US" sz="3200" b="1" dirty="0"/>
              <a:t>High validation loss</a:t>
            </a:r>
            <a:r>
              <a:rPr lang="en-US" sz="3200" dirty="0"/>
              <a:t>: The model struggles to generalize, possibly due to:</a:t>
            </a:r>
          </a:p>
          <a:p>
            <a:pPr>
              <a:buNone/>
            </a:pPr>
            <a:endParaRPr lang="en-US" sz="3200" dirty="0"/>
          </a:p>
          <a:p>
            <a:pPr>
              <a:buNone/>
            </a:pPr>
            <a:r>
              <a:rPr lang="en-US" sz="3200" b="1" dirty="0"/>
              <a:t>Underfitting</a:t>
            </a:r>
            <a:r>
              <a:rPr lang="en-US" sz="3200" dirty="0"/>
              <a:t>: If both training and validation losses are high.</a:t>
            </a:r>
          </a:p>
          <a:p>
            <a:pPr>
              <a:buNone/>
            </a:pPr>
            <a:endParaRPr lang="en-US" sz="3200" dirty="0"/>
          </a:p>
          <a:p>
            <a:pPr>
              <a:buNone/>
            </a:pPr>
            <a:r>
              <a:rPr lang="en-US" sz="3200" b="1" dirty="0"/>
              <a:t>Overfitting</a:t>
            </a:r>
            <a:r>
              <a:rPr lang="en-US" sz="3200" dirty="0"/>
              <a:t>: If training loss is low but validation loss is high.</a:t>
            </a:r>
          </a:p>
        </p:txBody>
      </p:sp>
    </p:spTree>
    <p:extLst>
      <p:ext uri="{BB962C8B-B14F-4D97-AF65-F5344CB8AC3E}">
        <p14:creationId xmlns:p14="http://schemas.microsoft.com/office/powerpoint/2010/main" val="3420799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220D2-323C-B395-0F72-F0EC18C5948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3F32184-FF06-A0E9-105E-B54E5D0A6120}"/>
              </a:ext>
            </a:extLst>
          </p:cNvPr>
          <p:cNvSpPr txBox="1"/>
          <p:nvPr/>
        </p:nvSpPr>
        <p:spPr>
          <a:xfrm>
            <a:off x="717176" y="470340"/>
            <a:ext cx="10757647" cy="6001643"/>
          </a:xfrm>
          <a:prstGeom prst="rect">
            <a:avLst/>
          </a:prstGeom>
          <a:noFill/>
        </p:spPr>
        <p:txBody>
          <a:bodyPr wrap="square" rtlCol="0">
            <a:spAutoFit/>
          </a:bodyPr>
          <a:lstStyle/>
          <a:p>
            <a:r>
              <a:rPr lang="es-MX" sz="3200" b="1" dirty="0"/>
              <a:t>METRICS TO CONSIDER:</a:t>
            </a:r>
          </a:p>
          <a:p>
            <a:endParaRPr lang="es-MX" sz="3200" b="1" dirty="0"/>
          </a:p>
          <a:p>
            <a:pPr>
              <a:buNone/>
            </a:pPr>
            <a:r>
              <a:rPr lang="en-US" sz="3200" b="1" dirty="0"/>
              <a:t>Training Loss:</a:t>
            </a:r>
          </a:p>
          <a:p>
            <a:pPr>
              <a:buNone/>
            </a:pPr>
            <a:r>
              <a:rPr lang="en-US" sz="3200" b="1" dirty="0"/>
              <a:t>High training loss: </a:t>
            </a:r>
            <a:r>
              <a:rPr lang="en-US" sz="3200" dirty="0"/>
              <a:t>The model is struggling to fit the training data and needs adjustments (e.g., better hyperparameters, more training time).</a:t>
            </a:r>
          </a:p>
          <a:p>
            <a:pPr>
              <a:buNone/>
            </a:pPr>
            <a:endParaRPr lang="en-US" sz="3200" b="1" dirty="0"/>
          </a:p>
          <a:p>
            <a:pPr>
              <a:buNone/>
            </a:pPr>
            <a:r>
              <a:rPr lang="en-US" sz="3200" b="1" dirty="0"/>
              <a:t>Low training loss: </a:t>
            </a:r>
            <a:r>
              <a:rPr lang="en-US" sz="3200" dirty="0"/>
              <a:t>The model is learning well, but we must also check validation loss to avoid overfitting.</a:t>
            </a:r>
          </a:p>
          <a:p>
            <a:pPr>
              <a:buNone/>
            </a:pPr>
            <a:endParaRPr lang="en-US" sz="3200" b="1" dirty="0"/>
          </a:p>
          <a:p>
            <a:pPr>
              <a:buNone/>
            </a:pPr>
            <a:r>
              <a:rPr lang="en-US" sz="3200" b="1" dirty="0"/>
              <a:t>Training loss decreasing: </a:t>
            </a:r>
            <a:r>
              <a:rPr lang="en-US" sz="3200" dirty="0"/>
              <a:t>The model is improving as training </a:t>
            </a:r>
            <a:r>
              <a:rPr lang="en-US" sz="3200" dirty="0" err="1"/>
              <a:t>progresses.c</a:t>
            </a:r>
            <a:endParaRPr lang="en-US" sz="3200" dirty="0"/>
          </a:p>
        </p:txBody>
      </p:sp>
    </p:spTree>
    <p:extLst>
      <p:ext uri="{BB962C8B-B14F-4D97-AF65-F5344CB8AC3E}">
        <p14:creationId xmlns:p14="http://schemas.microsoft.com/office/powerpoint/2010/main" val="1481534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B2D3A-AB19-DCBA-30B7-DC387243110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CD5CDF15-10FA-A1A4-28F7-D4DBCD4853B8}"/>
              </a:ext>
            </a:extLst>
          </p:cNvPr>
          <p:cNvSpPr txBox="1"/>
          <p:nvPr/>
        </p:nvSpPr>
        <p:spPr>
          <a:xfrm>
            <a:off x="1596301" y="1997839"/>
            <a:ext cx="8999398" cy="1015663"/>
          </a:xfrm>
          <a:prstGeom prst="rect">
            <a:avLst/>
          </a:prstGeom>
          <a:noFill/>
        </p:spPr>
        <p:txBody>
          <a:bodyPr wrap="square" rtlCol="0">
            <a:spAutoFit/>
          </a:bodyPr>
          <a:lstStyle/>
          <a:p>
            <a:r>
              <a:rPr lang="es-MX" sz="6000" dirty="0"/>
              <a:t>RESULTS</a:t>
            </a:r>
          </a:p>
        </p:txBody>
      </p:sp>
    </p:spTree>
    <p:extLst>
      <p:ext uri="{BB962C8B-B14F-4D97-AF65-F5344CB8AC3E}">
        <p14:creationId xmlns:p14="http://schemas.microsoft.com/office/powerpoint/2010/main" val="2677006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55B44-F61E-D351-D965-0023A7DACCB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269B10C-22D8-2B51-CBA6-D7DBCE717730}"/>
              </a:ext>
            </a:extLst>
          </p:cNvPr>
          <p:cNvSpPr txBox="1"/>
          <p:nvPr/>
        </p:nvSpPr>
        <p:spPr>
          <a:xfrm>
            <a:off x="1596301" y="1997839"/>
            <a:ext cx="8999398" cy="1015663"/>
          </a:xfrm>
          <a:prstGeom prst="rect">
            <a:avLst/>
          </a:prstGeom>
          <a:noFill/>
        </p:spPr>
        <p:txBody>
          <a:bodyPr wrap="square" rtlCol="0">
            <a:spAutoFit/>
          </a:bodyPr>
          <a:lstStyle/>
          <a:p>
            <a:r>
              <a:rPr lang="es-MX" sz="6000" dirty="0"/>
              <a:t>EXPERIMENT 1:</a:t>
            </a:r>
          </a:p>
        </p:txBody>
      </p:sp>
      <p:sp>
        <p:nvSpPr>
          <p:cNvPr id="2" name="CuadroTexto 1">
            <a:extLst>
              <a:ext uri="{FF2B5EF4-FFF2-40B4-BE49-F238E27FC236}">
                <a16:creationId xmlns:a16="http://schemas.microsoft.com/office/drawing/2014/main" id="{57C2DFD4-83E8-16C5-AF80-031D4CDB12EF}"/>
              </a:ext>
            </a:extLst>
          </p:cNvPr>
          <p:cNvSpPr txBox="1"/>
          <p:nvPr/>
        </p:nvSpPr>
        <p:spPr>
          <a:xfrm>
            <a:off x="860612" y="3844499"/>
            <a:ext cx="10757647" cy="2554545"/>
          </a:xfrm>
          <a:prstGeom prst="rect">
            <a:avLst/>
          </a:prstGeom>
          <a:noFill/>
        </p:spPr>
        <p:txBody>
          <a:bodyPr wrap="square" rtlCol="0">
            <a:spAutoFit/>
          </a:bodyPr>
          <a:lstStyle/>
          <a:p>
            <a:pPr>
              <a:buNone/>
            </a:pPr>
            <a:r>
              <a:rPr lang="en-US" sz="3200" dirty="0"/>
              <a:t>TRANSFORMERS: Bert uncase base transformer tokenizer architecture.</a:t>
            </a:r>
          </a:p>
          <a:p>
            <a:pPr>
              <a:buNone/>
            </a:pPr>
            <a:r>
              <a:rPr lang="en-US" sz="3200" dirty="0"/>
              <a:t>	Only using (HATEXPLAIN). </a:t>
            </a:r>
          </a:p>
          <a:p>
            <a:pPr>
              <a:buNone/>
            </a:pPr>
            <a:r>
              <a:rPr lang="en-US" sz="3200" dirty="0"/>
              <a:t>	10 Epochs ~ 1 h.</a:t>
            </a:r>
          </a:p>
          <a:p>
            <a:pPr>
              <a:buNone/>
            </a:pPr>
            <a:r>
              <a:rPr lang="en-US" sz="3200" dirty="0"/>
              <a:t>	</a:t>
            </a:r>
          </a:p>
        </p:txBody>
      </p:sp>
    </p:spTree>
    <p:extLst>
      <p:ext uri="{BB962C8B-B14F-4D97-AF65-F5344CB8AC3E}">
        <p14:creationId xmlns:p14="http://schemas.microsoft.com/office/powerpoint/2010/main" val="2587791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F98C3A5C-B264-DC4E-7654-3A71A6C3BFE0}"/>
              </a:ext>
            </a:extLst>
          </p:cNvPr>
          <p:cNvGraphicFramePr>
            <a:graphicFrameLocks noGrp="1"/>
          </p:cNvGraphicFramePr>
          <p:nvPr>
            <p:extLst>
              <p:ext uri="{D42A27DB-BD31-4B8C-83A1-F6EECF244321}">
                <p14:modId xmlns:p14="http://schemas.microsoft.com/office/powerpoint/2010/main" val="512570261"/>
              </p:ext>
            </p:extLst>
          </p:nvPr>
        </p:nvGraphicFramePr>
        <p:xfrm>
          <a:off x="459810" y="590160"/>
          <a:ext cx="11272380" cy="5677680"/>
        </p:xfrm>
        <a:graphic>
          <a:graphicData uri="http://schemas.openxmlformats.org/drawingml/2006/table">
            <a:tbl>
              <a:tblPr>
                <a:tableStyleId>{5C22544A-7EE6-4342-B048-85BDC9FD1C3A}</a:tableStyleId>
              </a:tblPr>
              <a:tblGrid>
                <a:gridCol w="2254476">
                  <a:extLst>
                    <a:ext uri="{9D8B030D-6E8A-4147-A177-3AD203B41FA5}">
                      <a16:colId xmlns:a16="http://schemas.microsoft.com/office/drawing/2014/main" val="2909728719"/>
                    </a:ext>
                  </a:extLst>
                </a:gridCol>
                <a:gridCol w="2254476">
                  <a:extLst>
                    <a:ext uri="{9D8B030D-6E8A-4147-A177-3AD203B41FA5}">
                      <a16:colId xmlns:a16="http://schemas.microsoft.com/office/drawing/2014/main" val="1678380673"/>
                    </a:ext>
                  </a:extLst>
                </a:gridCol>
                <a:gridCol w="2254476">
                  <a:extLst>
                    <a:ext uri="{9D8B030D-6E8A-4147-A177-3AD203B41FA5}">
                      <a16:colId xmlns:a16="http://schemas.microsoft.com/office/drawing/2014/main" val="1227484213"/>
                    </a:ext>
                  </a:extLst>
                </a:gridCol>
                <a:gridCol w="2254476">
                  <a:extLst>
                    <a:ext uri="{9D8B030D-6E8A-4147-A177-3AD203B41FA5}">
                      <a16:colId xmlns:a16="http://schemas.microsoft.com/office/drawing/2014/main" val="4202898229"/>
                    </a:ext>
                  </a:extLst>
                </a:gridCol>
                <a:gridCol w="2254476">
                  <a:extLst>
                    <a:ext uri="{9D8B030D-6E8A-4147-A177-3AD203B41FA5}">
                      <a16:colId xmlns:a16="http://schemas.microsoft.com/office/drawing/2014/main" val="1805715886"/>
                    </a:ext>
                  </a:extLst>
                </a:gridCol>
              </a:tblGrid>
              <a:tr h="869770">
                <a:tc>
                  <a:txBody>
                    <a:bodyPr/>
                    <a:lstStyle/>
                    <a:p>
                      <a:pPr algn="ctr" fontAlgn="b"/>
                      <a:r>
                        <a:rPr lang="es-MX" sz="2400" b="1" u="none" strike="noStrike" dirty="0" err="1">
                          <a:effectLst/>
                        </a:rPr>
                        <a:t>Epoch</a:t>
                      </a:r>
                      <a:endParaRPr lang="es-MX" sz="2400" b="1"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a:effectLst/>
                        </a:rPr>
                        <a:t>Training </a:t>
                      </a:r>
                      <a:r>
                        <a:rPr lang="es-MX" sz="2400" b="1" u="none" strike="noStrike" dirty="0" err="1">
                          <a:effectLst/>
                        </a:rPr>
                        <a:t>Loss</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err="1">
                          <a:effectLst/>
                        </a:rPr>
                        <a:t>Validation</a:t>
                      </a:r>
                      <a:r>
                        <a:rPr lang="es-MX" sz="2400" b="1" u="none" strike="noStrike" dirty="0">
                          <a:effectLst/>
                        </a:rPr>
                        <a:t> </a:t>
                      </a:r>
                      <a:r>
                        <a:rPr lang="es-MX" sz="2400" b="1" u="none" strike="noStrike" dirty="0" err="1">
                          <a:effectLst/>
                        </a:rPr>
                        <a:t>Loss</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err="1">
                          <a:effectLst/>
                        </a:rPr>
                        <a:t>Accuracy</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a:effectLst/>
                        </a:rPr>
                        <a:t>F1</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480791">
                <a:tc>
                  <a:txBody>
                    <a:bodyPr/>
                    <a:lstStyle/>
                    <a:p>
                      <a:pPr algn="ctr" fontAlgn="b"/>
                      <a:r>
                        <a:rPr lang="es-MX" sz="2400" i="1" u="none" strike="noStrike" dirty="0">
                          <a:effectLst/>
                        </a:rPr>
                        <a:t>1</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0.4766</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0.753503</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0.836725</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0.738474</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480791">
                <a:tc>
                  <a:txBody>
                    <a:bodyPr/>
                    <a:lstStyle/>
                    <a:p>
                      <a:pPr algn="ctr" fontAlgn="b"/>
                      <a:r>
                        <a:rPr lang="es-MX" sz="2400" i="1" u="none" strike="noStrike" dirty="0">
                          <a:effectLst/>
                        </a:rPr>
                        <a:t>2</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0.3093</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0.932341</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0.843672</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0.738589</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480791">
                <a:tc>
                  <a:txBody>
                    <a:bodyPr/>
                    <a:lstStyle/>
                    <a:p>
                      <a:pPr algn="ctr" fontAlgn="b"/>
                      <a:r>
                        <a:rPr lang="es-MX" sz="2400" i="1" u="none" strike="noStrike" dirty="0">
                          <a:effectLst/>
                        </a:rPr>
                        <a:t>3</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0.3045</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1.083901</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0.827295</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0.690391</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939953405"/>
                  </a:ext>
                </a:extLst>
              </a:tr>
              <a:tr h="480791">
                <a:tc>
                  <a:txBody>
                    <a:bodyPr/>
                    <a:lstStyle/>
                    <a:p>
                      <a:pPr algn="ctr" fontAlgn="b"/>
                      <a:r>
                        <a:rPr lang="es-MX" sz="2400" i="1" u="none" strike="noStrike" dirty="0">
                          <a:effectLst/>
                        </a:rPr>
                        <a:t>4</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0.2357</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1.138283</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0.825806</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0.718299</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700943724"/>
                  </a:ext>
                </a:extLst>
              </a:tr>
              <a:tr h="480791">
                <a:tc>
                  <a:txBody>
                    <a:bodyPr/>
                    <a:lstStyle/>
                    <a:p>
                      <a:pPr algn="ctr" fontAlgn="b"/>
                      <a:r>
                        <a:rPr lang="es-MX" sz="2400" i="1" u="none" strike="noStrike" dirty="0">
                          <a:effectLst/>
                        </a:rPr>
                        <a:t>5</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0.1512</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1.177098</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0.824566</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0.703066</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954132952"/>
                  </a:ext>
                </a:extLst>
              </a:tr>
              <a:tr h="480791">
                <a:tc>
                  <a:txBody>
                    <a:bodyPr/>
                    <a:lstStyle/>
                    <a:p>
                      <a:pPr algn="ctr" fontAlgn="b"/>
                      <a:r>
                        <a:rPr lang="es-MX" sz="2400" i="1" u="none" strike="noStrike" dirty="0">
                          <a:effectLst/>
                        </a:rPr>
                        <a:t>6</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0.0628</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1.282215</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0.829777</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0.703544</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455627239"/>
                  </a:ext>
                </a:extLst>
              </a:tr>
              <a:tr h="480791">
                <a:tc>
                  <a:txBody>
                    <a:bodyPr/>
                    <a:lstStyle/>
                    <a:p>
                      <a:pPr algn="ctr" fontAlgn="b"/>
                      <a:r>
                        <a:rPr lang="es-MX" sz="2400" i="1" u="none" strike="noStrike" dirty="0">
                          <a:effectLst/>
                        </a:rPr>
                        <a:t>7</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0.0614</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1.362857</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0.827047</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0.687864</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662730662"/>
                  </a:ext>
                </a:extLst>
              </a:tr>
              <a:tr h="480791">
                <a:tc>
                  <a:txBody>
                    <a:bodyPr/>
                    <a:lstStyle/>
                    <a:p>
                      <a:pPr algn="ctr" fontAlgn="b"/>
                      <a:r>
                        <a:rPr lang="es-MX" sz="2400" i="1" u="none" strike="noStrike" dirty="0">
                          <a:effectLst/>
                        </a:rPr>
                        <a:t>8</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0.0309</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1.331932</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0.827792</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0.698523</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22461667"/>
                  </a:ext>
                </a:extLst>
              </a:tr>
              <a:tr h="480791">
                <a:tc>
                  <a:txBody>
                    <a:bodyPr/>
                    <a:lstStyle/>
                    <a:p>
                      <a:pPr algn="ctr" fontAlgn="b"/>
                      <a:r>
                        <a:rPr lang="es-MX" sz="2400" i="1" u="none" strike="noStrike" dirty="0">
                          <a:effectLst/>
                        </a:rPr>
                        <a:t>9</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a:effectLst/>
                        </a:rPr>
                        <a:t>0.1128</a:t>
                      </a:r>
                      <a:endParaRPr lang="es-MX" sz="2400" b="0" i="0" u="none" strike="noStrike">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1.475481</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0.829032</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0.704165</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086350639"/>
                  </a:ext>
                </a:extLst>
              </a:tr>
              <a:tr h="480791">
                <a:tc>
                  <a:txBody>
                    <a:bodyPr/>
                    <a:lstStyle/>
                    <a:p>
                      <a:pPr algn="ctr" fontAlgn="b"/>
                      <a:r>
                        <a:rPr lang="es-MX" sz="2400" i="1" u="none" strike="noStrike" dirty="0">
                          <a:effectLst/>
                        </a:rPr>
                        <a:t>10</a:t>
                      </a:r>
                      <a:endParaRPr lang="es-MX" sz="2400" b="0" i="1" u="none" strike="noStrike" dirty="0">
                        <a:solidFill>
                          <a:srgbClr val="000000"/>
                        </a:solidFill>
                        <a:effectLst/>
                        <a:latin typeface="Calibri" panose="020F0502020204030204" pitchFamily="34" charset="0"/>
                      </a:endParaRPr>
                    </a:p>
                  </a:txBody>
                  <a:tcPr marL="9525" marR="9525"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0.0002</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a:effectLst/>
                        </a:rPr>
                        <a:t>1.524164</a:t>
                      </a:r>
                      <a:endParaRPr lang="es-MX" sz="2400" b="1"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a:effectLst/>
                        </a:rPr>
                        <a:t>0.830273</a:t>
                      </a:r>
                      <a:endParaRPr lang="es-MX" sz="2400" b="1"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u="none" strike="noStrike" dirty="0">
                          <a:effectLst/>
                        </a:rPr>
                        <a:t>0.715474</a:t>
                      </a:r>
                      <a:endParaRPr lang="es-MX" sz="2400" b="0" i="0" u="none" strike="noStrike" dirty="0">
                        <a:solidFill>
                          <a:srgbClr val="000000"/>
                        </a:solidFill>
                        <a:effectLst/>
                        <a:latin typeface="Calibri" panose="020F0502020204030204" pitchFamily="34" charset="0"/>
                      </a:endParaRPr>
                    </a:p>
                  </a:txBody>
                  <a:tcPr marL="9525" marR="9525"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231836369"/>
                  </a:ext>
                </a:extLst>
              </a:tr>
            </a:tbl>
          </a:graphicData>
        </a:graphic>
      </p:graphicFrame>
    </p:spTree>
    <p:extLst>
      <p:ext uri="{BB962C8B-B14F-4D97-AF65-F5344CB8AC3E}">
        <p14:creationId xmlns:p14="http://schemas.microsoft.com/office/powerpoint/2010/main" val="4059806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99D97-E1AB-9B40-BC36-8EAF45F9DAB5}"/>
            </a:ext>
          </a:extLst>
        </p:cNvPr>
        <p:cNvGrpSpPr/>
        <p:nvPr/>
      </p:nvGrpSpPr>
      <p:grpSpPr>
        <a:xfrm>
          <a:off x="0" y="0"/>
          <a:ext cx="0" cy="0"/>
          <a:chOff x="0" y="0"/>
          <a:chExt cx="0" cy="0"/>
        </a:xfrm>
      </p:grpSpPr>
      <p:graphicFrame>
        <p:nvGraphicFramePr>
          <p:cNvPr id="9" name="Tabla 8">
            <a:extLst>
              <a:ext uri="{FF2B5EF4-FFF2-40B4-BE49-F238E27FC236}">
                <a16:creationId xmlns:a16="http://schemas.microsoft.com/office/drawing/2014/main" id="{669CF23B-0419-D08F-D566-4844441EE03D}"/>
              </a:ext>
            </a:extLst>
          </p:cNvPr>
          <p:cNvGraphicFramePr>
            <a:graphicFrameLocks noGrp="1"/>
          </p:cNvGraphicFramePr>
          <p:nvPr>
            <p:extLst>
              <p:ext uri="{D42A27DB-BD31-4B8C-83A1-F6EECF244321}">
                <p14:modId xmlns:p14="http://schemas.microsoft.com/office/powerpoint/2010/main" val="228858704"/>
              </p:ext>
            </p:extLst>
          </p:nvPr>
        </p:nvGraphicFramePr>
        <p:xfrm>
          <a:off x="374365" y="1114157"/>
          <a:ext cx="11443270" cy="4629685"/>
        </p:xfrm>
        <a:graphic>
          <a:graphicData uri="http://schemas.openxmlformats.org/drawingml/2006/table">
            <a:tbl>
              <a:tblPr>
                <a:tableStyleId>{5C22544A-7EE6-4342-B048-85BDC9FD1C3A}</a:tableStyleId>
              </a:tblPr>
              <a:tblGrid>
                <a:gridCol w="6500316">
                  <a:extLst>
                    <a:ext uri="{9D8B030D-6E8A-4147-A177-3AD203B41FA5}">
                      <a16:colId xmlns:a16="http://schemas.microsoft.com/office/drawing/2014/main" val="2909728719"/>
                    </a:ext>
                  </a:extLst>
                </a:gridCol>
                <a:gridCol w="2471477">
                  <a:extLst>
                    <a:ext uri="{9D8B030D-6E8A-4147-A177-3AD203B41FA5}">
                      <a16:colId xmlns:a16="http://schemas.microsoft.com/office/drawing/2014/main" val="1678380673"/>
                    </a:ext>
                  </a:extLst>
                </a:gridCol>
                <a:gridCol w="2471477">
                  <a:extLst>
                    <a:ext uri="{9D8B030D-6E8A-4147-A177-3AD203B41FA5}">
                      <a16:colId xmlns:a16="http://schemas.microsoft.com/office/drawing/2014/main" val="1227484213"/>
                    </a:ext>
                  </a:extLst>
                </a:gridCol>
              </a:tblGrid>
              <a:tr h="1114293">
                <a:tc>
                  <a:txBody>
                    <a:bodyPr/>
                    <a:lstStyle/>
                    <a:p>
                      <a:pPr algn="ctr" fontAlgn="b"/>
                      <a:r>
                        <a:rPr lang="es-MX" sz="3200" b="1" i="0" u="none" strike="noStrike" dirty="0">
                          <a:solidFill>
                            <a:srgbClr val="000000"/>
                          </a:solidFill>
                          <a:effectLst/>
                          <a:latin typeface="Calibri" panose="020F0502020204030204" pitchFamily="34" charset="0"/>
                        </a:rPr>
                        <a:t>Music Video</a:t>
                      </a: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i="0" u="none" strike="noStrike" dirty="0">
                          <a:solidFill>
                            <a:srgbClr val="000000"/>
                          </a:solidFill>
                          <a:effectLst/>
                          <a:latin typeface="Calibri" panose="020F0502020204030204" pitchFamily="34" charset="0"/>
                        </a:rPr>
                        <a:t>English </a:t>
                      </a:r>
                      <a:r>
                        <a:rPr lang="es-MX" sz="3200" b="1" i="0" u="none" strike="noStrike" dirty="0" err="1">
                          <a:solidFill>
                            <a:srgbClr val="000000"/>
                          </a:solidFill>
                          <a:effectLst/>
                          <a:latin typeface="Calibri" panose="020F0502020204030204" pitchFamily="34" charset="0"/>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Hate</a:t>
                      </a:r>
                      <a:r>
                        <a:rPr lang="es-MX" sz="3200" b="1" u="none" strike="noStrike" dirty="0">
                          <a:effectLst/>
                        </a:rPr>
                        <a:t> </a:t>
                      </a:r>
                      <a:r>
                        <a:rPr lang="es-MX" sz="3200" b="1" u="none" strike="noStrike" dirty="0" err="1">
                          <a:effectLst/>
                        </a:rPr>
                        <a:t>Speech</a:t>
                      </a:r>
                      <a:r>
                        <a:rPr lang="es-MX" sz="3200" b="1" u="none" strike="noStrike" dirty="0">
                          <a:effectLst/>
                        </a:rPr>
                        <a:t> </a:t>
                      </a:r>
                      <a:r>
                        <a:rPr lang="es-MX" sz="3200" b="1" u="none" strike="noStrike" dirty="0" err="1">
                          <a:effectLst/>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615958">
                <a:tc>
                  <a:txBody>
                    <a:bodyPr/>
                    <a:lstStyle/>
                    <a:p>
                      <a:pPr algn="ctr"/>
                      <a:r>
                        <a:rPr lang="es-MX" sz="3200" i="1" dirty="0">
                          <a:effectLst/>
                        </a:rPr>
                        <a:t>Black Sabbath ~ </a:t>
                      </a:r>
                      <a:r>
                        <a:rPr lang="es-MX" sz="3200" i="1" dirty="0" err="1">
                          <a:effectLst/>
                        </a:rPr>
                        <a:t>War</a:t>
                      </a:r>
                      <a:r>
                        <a:rPr lang="es-MX" sz="3200" i="1" dirty="0">
                          <a:effectLst/>
                        </a:rPr>
                        <a:t> </a:t>
                      </a:r>
                      <a:r>
                        <a:rPr lang="es-MX" sz="3200" i="1" dirty="0" err="1">
                          <a:effectLst/>
                        </a:rPr>
                        <a:t>Pigs</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29068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337</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1034798">
                <a:tc>
                  <a:txBody>
                    <a:bodyPr/>
                    <a:lstStyle/>
                    <a:p>
                      <a:pPr algn="ctr"/>
                      <a:r>
                        <a:rPr lang="en-US" sz="3200" i="1" dirty="0">
                          <a:effectLst/>
                        </a:rPr>
                        <a:t>Hallowed Be Thy Name (2015 Remaster)</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1793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615958">
                <a:tc>
                  <a:txBody>
                    <a:bodyPr/>
                    <a:lstStyle/>
                    <a:p>
                      <a:pPr algn="ctr"/>
                      <a:r>
                        <a:rPr lang="es-MX" sz="3200" i="1" dirty="0">
                          <a:effectLst/>
                        </a:rPr>
                        <a:t>Master of </a:t>
                      </a:r>
                      <a:r>
                        <a:rPr lang="es-MX" sz="3200" i="1" dirty="0" err="1">
                          <a:effectLst/>
                        </a:rPr>
                        <a:t>Puppets</a:t>
                      </a:r>
                      <a:r>
                        <a:rPr lang="es-MX" sz="3200" i="1" dirty="0">
                          <a:effectLst/>
                        </a:rPr>
                        <a:t> (</a:t>
                      </a:r>
                      <a:r>
                        <a:rPr lang="es-MX" sz="3200" i="1" dirty="0" err="1">
                          <a:effectLst/>
                        </a:rPr>
                        <a:t>Remastered</a:t>
                      </a:r>
                      <a:r>
                        <a:rPr lang="es-MX" sz="3200" i="1" dirty="0">
                          <a:effectLst/>
                        </a:rPr>
                        <a:t>)</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10149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32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240856017"/>
                  </a:ext>
                </a:extLst>
              </a:tr>
              <a:tr h="615958">
                <a:tc>
                  <a:txBody>
                    <a:bodyPr/>
                    <a:lstStyle/>
                    <a:p>
                      <a:pPr algn="ctr"/>
                      <a:r>
                        <a:rPr lang="es-MX" sz="3200" i="1" dirty="0">
                          <a:effectLst/>
                        </a:rPr>
                        <a:t>Pantera - Cowboys </a:t>
                      </a:r>
                      <a:r>
                        <a:rPr lang="es-MX" sz="3200" i="1" dirty="0" err="1">
                          <a:effectLst/>
                        </a:rPr>
                        <a:t>From</a:t>
                      </a:r>
                      <a:r>
                        <a:rPr lang="es-MX" sz="3200" i="1" dirty="0">
                          <a:effectLst/>
                        </a:rPr>
                        <a:t> </a:t>
                      </a:r>
                      <a:r>
                        <a:rPr lang="es-MX" sz="3200" i="1" dirty="0" err="1">
                          <a:effectLst/>
                        </a:rPr>
                        <a:t>Hell</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10724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81</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157566007"/>
                  </a:ext>
                </a:extLst>
              </a:tr>
              <a:tr h="615958">
                <a:tc>
                  <a:txBody>
                    <a:bodyPr/>
                    <a:lstStyle/>
                    <a:p>
                      <a:pPr algn="ctr"/>
                      <a:r>
                        <a:rPr lang="es-MX" sz="3200" i="1" dirty="0">
                          <a:effectLst/>
                        </a:rPr>
                        <a:t>Slayer - </a:t>
                      </a:r>
                      <a:r>
                        <a:rPr lang="es-MX" sz="3200" i="1" dirty="0" err="1">
                          <a:effectLst/>
                        </a:rPr>
                        <a:t>Raining</a:t>
                      </a:r>
                      <a:r>
                        <a:rPr lang="es-MX" sz="3200" i="1" dirty="0">
                          <a:effectLst/>
                        </a:rPr>
                        <a:t> </a:t>
                      </a:r>
                      <a:r>
                        <a:rPr lang="es-MX" sz="3200" i="1" dirty="0" err="1">
                          <a:effectLst/>
                        </a:rPr>
                        <a:t>Blood</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17852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182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70466329"/>
                  </a:ext>
                </a:extLst>
              </a:tr>
            </a:tbl>
          </a:graphicData>
        </a:graphic>
      </p:graphicFrame>
    </p:spTree>
    <p:extLst>
      <p:ext uri="{BB962C8B-B14F-4D97-AF65-F5344CB8AC3E}">
        <p14:creationId xmlns:p14="http://schemas.microsoft.com/office/powerpoint/2010/main" val="2636501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B990BE0-EA46-70BE-DE7D-47C3027D74ED}"/>
              </a:ext>
            </a:extLst>
          </p:cNvPr>
          <p:cNvPicPr>
            <a:picLocks noChangeAspect="1"/>
          </p:cNvPicPr>
          <p:nvPr/>
        </p:nvPicPr>
        <p:blipFill>
          <a:blip r:embed="rId2"/>
          <a:stretch>
            <a:fillRect/>
          </a:stretch>
        </p:blipFill>
        <p:spPr>
          <a:xfrm>
            <a:off x="1615759" y="730335"/>
            <a:ext cx="8960482" cy="2593544"/>
          </a:xfrm>
          <a:prstGeom prst="rect">
            <a:avLst/>
          </a:prstGeom>
        </p:spPr>
      </p:pic>
      <p:sp>
        <p:nvSpPr>
          <p:cNvPr id="5" name="CuadroTexto 4">
            <a:extLst>
              <a:ext uri="{FF2B5EF4-FFF2-40B4-BE49-F238E27FC236}">
                <a16:creationId xmlns:a16="http://schemas.microsoft.com/office/drawing/2014/main" id="{5AAB6EBF-2931-CA57-6635-D064115D7B5B}"/>
              </a:ext>
            </a:extLst>
          </p:cNvPr>
          <p:cNvSpPr txBox="1"/>
          <p:nvPr/>
        </p:nvSpPr>
        <p:spPr>
          <a:xfrm>
            <a:off x="3047478" y="361003"/>
            <a:ext cx="6097044" cy="369332"/>
          </a:xfrm>
          <a:prstGeom prst="rect">
            <a:avLst/>
          </a:prstGeom>
          <a:noFill/>
        </p:spPr>
        <p:txBody>
          <a:bodyPr wrap="square">
            <a:spAutoFit/>
          </a:bodyPr>
          <a:lstStyle/>
          <a:p>
            <a:pPr algn="ctr"/>
            <a:r>
              <a:rPr lang="es-MX" sz="1800" i="1" dirty="0">
                <a:effectLst/>
              </a:rPr>
              <a:t>Black Sabbath ~ </a:t>
            </a:r>
            <a:r>
              <a:rPr lang="es-MX" sz="1800" i="1" dirty="0" err="1">
                <a:effectLst/>
              </a:rPr>
              <a:t>War</a:t>
            </a:r>
            <a:r>
              <a:rPr lang="es-MX" sz="1800" i="1" dirty="0">
                <a:effectLst/>
              </a:rPr>
              <a:t> </a:t>
            </a:r>
            <a:r>
              <a:rPr lang="es-MX" sz="1800" i="1" dirty="0" err="1">
                <a:effectLst/>
              </a:rPr>
              <a:t>Pigs</a:t>
            </a:r>
            <a:endParaRPr lang="es-MX" sz="1800" i="1" dirty="0">
              <a:effectLst/>
            </a:endParaRPr>
          </a:p>
        </p:txBody>
      </p:sp>
      <p:pic>
        <p:nvPicPr>
          <p:cNvPr id="7" name="Imagen 6">
            <a:extLst>
              <a:ext uri="{FF2B5EF4-FFF2-40B4-BE49-F238E27FC236}">
                <a16:creationId xmlns:a16="http://schemas.microsoft.com/office/drawing/2014/main" id="{873990FF-8C2E-B129-6544-E51DEFDBEABD}"/>
              </a:ext>
            </a:extLst>
          </p:cNvPr>
          <p:cNvPicPr>
            <a:picLocks noChangeAspect="1"/>
          </p:cNvPicPr>
          <p:nvPr/>
        </p:nvPicPr>
        <p:blipFill>
          <a:blip r:embed="rId3"/>
          <a:stretch>
            <a:fillRect/>
          </a:stretch>
        </p:blipFill>
        <p:spPr>
          <a:xfrm>
            <a:off x="1615759" y="4062543"/>
            <a:ext cx="8971543" cy="2544936"/>
          </a:xfrm>
          <a:prstGeom prst="rect">
            <a:avLst/>
          </a:prstGeom>
        </p:spPr>
      </p:pic>
      <p:sp>
        <p:nvSpPr>
          <p:cNvPr id="8" name="CuadroTexto 7">
            <a:extLst>
              <a:ext uri="{FF2B5EF4-FFF2-40B4-BE49-F238E27FC236}">
                <a16:creationId xmlns:a16="http://schemas.microsoft.com/office/drawing/2014/main" id="{8322B106-1822-AD19-12E6-7BBB99E70687}"/>
              </a:ext>
            </a:extLst>
          </p:cNvPr>
          <p:cNvSpPr txBox="1"/>
          <p:nvPr/>
        </p:nvSpPr>
        <p:spPr>
          <a:xfrm>
            <a:off x="3047478" y="3697507"/>
            <a:ext cx="6097044" cy="369332"/>
          </a:xfrm>
          <a:prstGeom prst="rect">
            <a:avLst/>
          </a:prstGeom>
          <a:noFill/>
        </p:spPr>
        <p:txBody>
          <a:bodyPr wrap="square">
            <a:spAutoFit/>
          </a:bodyPr>
          <a:lstStyle/>
          <a:p>
            <a:pPr algn="ctr"/>
            <a:r>
              <a:rPr lang="en-US" sz="1800" i="1" dirty="0">
                <a:effectLst/>
              </a:rPr>
              <a:t>Hallowed Be Thy Name </a:t>
            </a:r>
            <a:endParaRPr lang="es-MX" sz="1800" i="1" dirty="0">
              <a:effectLst/>
            </a:endParaRPr>
          </a:p>
        </p:txBody>
      </p:sp>
    </p:spTree>
    <p:extLst>
      <p:ext uri="{BB962C8B-B14F-4D97-AF65-F5344CB8AC3E}">
        <p14:creationId xmlns:p14="http://schemas.microsoft.com/office/powerpoint/2010/main" val="654219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B3D8A-3440-541D-71FA-1B7774ED7D6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365B4E7-3225-2C96-67F5-345D8CFFD793}"/>
              </a:ext>
            </a:extLst>
          </p:cNvPr>
          <p:cNvSpPr txBox="1"/>
          <p:nvPr/>
        </p:nvSpPr>
        <p:spPr>
          <a:xfrm>
            <a:off x="1596301" y="1997839"/>
            <a:ext cx="8999398" cy="1015663"/>
          </a:xfrm>
          <a:prstGeom prst="rect">
            <a:avLst/>
          </a:prstGeom>
          <a:noFill/>
        </p:spPr>
        <p:txBody>
          <a:bodyPr wrap="square" rtlCol="0">
            <a:spAutoFit/>
          </a:bodyPr>
          <a:lstStyle/>
          <a:p>
            <a:r>
              <a:rPr lang="es-MX" sz="6000" dirty="0"/>
              <a:t>EXPERIMENT 2:</a:t>
            </a:r>
          </a:p>
        </p:txBody>
      </p:sp>
      <p:sp>
        <p:nvSpPr>
          <p:cNvPr id="2" name="CuadroTexto 1">
            <a:extLst>
              <a:ext uri="{FF2B5EF4-FFF2-40B4-BE49-F238E27FC236}">
                <a16:creationId xmlns:a16="http://schemas.microsoft.com/office/drawing/2014/main" id="{5748B6A2-4FA8-345F-CDA7-38C828A0CDED}"/>
              </a:ext>
            </a:extLst>
          </p:cNvPr>
          <p:cNvSpPr txBox="1"/>
          <p:nvPr/>
        </p:nvSpPr>
        <p:spPr>
          <a:xfrm>
            <a:off x="860612" y="3844499"/>
            <a:ext cx="10757647" cy="2554545"/>
          </a:xfrm>
          <a:prstGeom prst="rect">
            <a:avLst/>
          </a:prstGeom>
          <a:noFill/>
        </p:spPr>
        <p:txBody>
          <a:bodyPr wrap="square" rtlCol="0">
            <a:spAutoFit/>
          </a:bodyPr>
          <a:lstStyle/>
          <a:p>
            <a:pPr>
              <a:buNone/>
            </a:pPr>
            <a:r>
              <a:rPr lang="en-US" sz="3200" dirty="0"/>
              <a:t>TRANSFORMERS: Bert uncase base transformer tokenizer architecture.</a:t>
            </a:r>
          </a:p>
          <a:p>
            <a:pPr>
              <a:buNone/>
            </a:pPr>
            <a:r>
              <a:rPr lang="en-US" sz="3200" dirty="0"/>
              <a:t>	Only using (HATEXPLAIN). </a:t>
            </a:r>
          </a:p>
          <a:p>
            <a:pPr>
              <a:buNone/>
            </a:pPr>
            <a:r>
              <a:rPr lang="en-US" sz="3200" dirty="0"/>
              <a:t>	30 Epochs ~ 3 h.</a:t>
            </a:r>
          </a:p>
          <a:p>
            <a:pPr>
              <a:buNone/>
            </a:pPr>
            <a:r>
              <a:rPr lang="en-US" sz="3200" dirty="0"/>
              <a:t>	</a:t>
            </a:r>
          </a:p>
        </p:txBody>
      </p:sp>
    </p:spTree>
    <p:extLst>
      <p:ext uri="{BB962C8B-B14F-4D97-AF65-F5344CB8AC3E}">
        <p14:creationId xmlns:p14="http://schemas.microsoft.com/office/powerpoint/2010/main" val="762437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31003-1AF2-6377-52AF-C042290F0064}"/>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573C6B46-5837-1479-E591-580CDDCA2220}"/>
              </a:ext>
            </a:extLst>
          </p:cNvPr>
          <p:cNvGraphicFramePr>
            <a:graphicFrameLocks noGrp="1"/>
          </p:cNvGraphicFramePr>
          <p:nvPr>
            <p:extLst>
              <p:ext uri="{D42A27DB-BD31-4B8C-83A1-F6EECF244321}">
                <p14:modId xmlns:p14="http://schemas.microsoft.com/office/powerpoint/2010/main" val="3877307989"/>
              </p:ext>
            </p:extLst>
          </p:nvPr>
        </p:nvGraphicFramePr>
        <p:xfrm>
          <a:off x="459810" y="590160"/>
          <a:ext cx="11272380" cy="5677680"/>
        </p:xfrm>
        <a:graphic>
          <a:graphicData uri="http://schemas.openxmlformats.org/drawingml/2006/table">
            <a:tbl>
              <a:tblPr>
                <a:tableStyleId>{5C22544A-7EE6-4342-B048-85BDC9FD1C3A}</a:tableStyleId>
              </a:tblPr>
              <a:tblGrid>
                <a:gridCol w="2254476">
                  <a:extLst>
                    <a:ext uri="{9D8B030D-6E8A-4147-A177-3AD203B41FA5}">
                      <a16:colId xmlns:a16="http://schemas.microsoft.com/office/drawing/2014/main" val="2909728719"/>
                    </a:ext>
                  </a:extLst>
                </a:gridCol>
                <a:gridCol w="2254476">
                  <a:extLst>
                    <a:ext uri="{9D8B030D-6E8A-4147-A177-3AD203B41FA5}">
                      <a16:colId xmlns:a16="http://schemas.microsoft.com/office/drawing/2014/main" val="1678380673"/>
                    </a:ext>
                  </a:extLst>
                </a:gridCol>
                <a:gridCol w="2254476">
                  <a:extLst>
                    <a:ext uri="{9D8B030D-6E8A-4147-A177-3AD203B41FA5}">
                      <a16:colId xmlns:a16="http://schemas.microsoft.com/office/drawing/2014/main" val="1227484213"/>
                    </a:ext>
                  </a:extLst>
                </a:gridCol>
                <a:gridCol w="2254476">
                  <a:extLst>
                    <a:ext uri="{9D8B030D-6E8A-4147-A177-3AD203B41FA5}">
                      <a16:colId xmlns:a16="http://schemas.microsoft.com/office/drawing/2014/main" val="4202898229"/>
                    </a:ext>
                  </a:extLst>
                </a:gridCol>
                <a:gridCol w="2254476">
                  <a:extLst>
                    <a:ext uri="{9D8B030D-6E8A-4147-A177-3AD203B41FA5}">
                      <a16:colId xmlns:a16="http://schemas.microsoft.com/office/drawing/2014/main" val="1805715886"/>
                    </a:ext>
                  </a:extLst>
                </a:gridCol>
              </a:tblGrid>
              <a:tr h="869770">
                <a:tc>
                  <a:txBody>
                    <a:bodyPr/>
                    <a:lstStyle/>
                    <a:p>
                      <a:pPr algn="ctr" fontAlgn="b"/>
                      <a:r>
                        <a:rPr lang="es-MX" sz="2400" b="1" u="none" strike="noStrike" dirty="0" err="1">
                          <a:effectLst/>
                        </a:rPr>
                        <a:t>Epoch</a:t>
                      </a:r>
                      <a:endParaRPr lang="es-MX" sz="2400" b="1"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a:effectLst/>
                        </a:rPr>
                        <a:t>Training </a:t>
                      </a:r>
                      <a:r>
                        <a:rPr lang="es-MX" sz="2400" b="1" u="none" strike="noStrike" dirty="0" err="1">
                          <a:effectLst/>
                        </a:rPr>
                        <a:t>Loss</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err="1">
                          <a:effectLst/>
                        </a:rPr>
                        <a:t>Validation</a:t>
                      </a:r>
                      <a:r>
                        <a:rPr lang="es-MX" sz="2400" b="1" u="none" strike="noStrike" dirty="0">
                          <a:effectLst/>
                        </a:rPr>
                        <a:t> </a:t>
                      </a:r>
                      <a:r>
                        <a:rPr lang="es-MX" sz="2400" b="1" u="none" strike="noStrike" dirty="0" err="1">
                          <a:effectLst/>
                        </a:rPr>
                        <a:t>Loss</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err="1">
                          <a:effectLst/>
                        </a:rPr>
                        <a:t>Accuracy</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a:effectLst/>
                        </a:rPr>
                        <a:t>F1</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480791">
                <a:tc>
                  <a:txBody>
                    <a:bodyPr/>
                    <a:lstStyle/>
                    <a:p>
                      <a:pPr algn="ctr"/>
                      <a:r>
                        <a:rPr lang="es-MX" sz="2400" i="1" dirty="0">
                          <a:effectLst/>
                        </a:rPr>
                        <a:t>21</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0.461200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1.056068</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0.823573</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0.649235</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480791">
                <a:tc>
                  <a:txBody>
                    <a:bodyPr/>
                    <a:lstStyle/>
                    <a:p>
                      <a:pPr algn="ctr"/>
                      <a:r>
                        <a:rPr lang="es-MX" sz="2400" i="1" dirty="0">
                          <a:effectLst/>
                        </a:rPr>
                        <a:t>22</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0.515600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0.948947</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0.816625</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0.628457</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480791">
                <a:tc>
                  <a:txBody>
                    <a:bodyPr/>
                    <a:lstStyle/>
                    <a:p>
                      <a:pPr algn="ctr"/>
                      <a:r>
                        <a:rPr lang="es-MX" sz="2400" i="1">
                          <a:effectLst/>
                        </a:rPr>
                        <a:t>23</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dirty="0">
                          <a:effectLst/>
                        </a:rPr>
                        <a:t>0.587200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0.955669</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0.786352</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0.513284</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939953405"/>
                  </a:ext>
                </a:extLst>
              </a:tr>
              <a:tr h="480791">
                <a:tc>
                  <a:txBody>
                    <a:bodyPr/>
                    <a:lstStyle/>
                    <a:p>
                      <a:pPr algn="ctr"/>
                      <a:r>
                        <a:rPr lang="es-MX" sz="2400" i="1" dirty="0">
                          <a:effectLst/>
                        </a:rPr>
                        <a:t>24</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0.631100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1.025427</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0.794045</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0.554243</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700943724"/>
                  </a:ext>
                </a:extLst>
              </a:tr>
              <a:tr h="480791">
                <a:tc>
                  <a:txBody>
                    <a:bodyPr/>
                    <a:lstStyle/>
                    <a:p>
                      <a:pPr algn="ctr"/>
                      <a:r>
                        <a:rPr lang="es-MX" sz="2400" i="1">
                          <a:effectLst/>
                        </a:rPr>
                        <a:t>25</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0.266700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0.969202</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dirty="0">
                          <a:effectLst/>
                        </a:rPr>
                        <a:t>0.831266</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0.719008</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954132952"/>
                  </a:ext>
                </a:extLst>
              </a:tr>
              <a:tr h="480791">
                <a:tc>
                  <a:txBody>
                    <a:bodyPr/>
                    <a:lstStyle/>
                    <a:p>
                      <a:pPr algn="ctr"/>
                      <a:r>
                        <a:rPr lang="es-MX" sz="2400" i="1">
                          <a:effectLst/>
                        </a:rPr>
                        <a:t>26</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0.192400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1.049532</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0.832010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0.712037</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455627239"/>
                  </a:ext>
                </a:extLst>
              </a:tr>
              <a:tr h="480791">
                <a:tc>
                  <a:txBody>
                    <a:bodyPr/>
                    <a:lstStyle/>
                    <a:p>
                      <a:pPr algn="ctr"/>
                      <a:r>
                        <a:rPr lang="es-MX" sz="2400" i="1" dirty="0">
                          <a:effectLst/>
                        </a:rPr>
                        <a:t>27</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0.318200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1.065290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0.823821</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dirty="0">
                          <a:effectLst/>
                        </a:rPr>
                        <a:t>0.675799</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662730662"/>
                  </a:ext>
                </a:extLst>
              </a:tr>
              <a:tr h="480791">
                <a:tc>
                  <a:txBody>
                    <a:bodyPr/>
                    <a:lstStyle/>
                    <a:p>
                      <a:pPr algn="ctr"/>
                      <a:r>
                        <a:rPr lang="es-MX" sz="2400" i="1" dirty="0">
                          <a:effectLst/>
                        </a:rPr>
                        <a:t>28</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0.202600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1.014721</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0.832010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0.707307</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22461667"/>
                  </a:ext>
                </a:extLst>
              </a:tr>
              <a:tr h="480791">
                <a:tc>
                  <a:txBody>
                    <a:bodyPr/>
                    <a:lstStyle/>
                    <a:p>
                      <a:pPr algn="ctr"/>
                      <a:r>
                        <a:rPr lang="es-MX" sz="2400" i="1" dirty="0">
                          <a:effectLst/>
                        </a:rPr>
                        <a:t>29</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0.105900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1.093944</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0.830025</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dirty="0">
                          <a:effectLst/>
                        </a:rPr>
                        <a:t>0.705882</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086350639"/>
                  </a:ext>
                </a:extLst>
              </a:tr>
              <a:tr h="480791">
                <a:tc>
                  <a:txBody>
                    <a:bodyPr/>
                    <a:lstStyle/>
                    <a:p>
                      <a:pPr algn="ctr"/>
                      <a:r>
                        <a:rPr lang="es-MX" sz="2400" i="1" dirty="0">
                          <a:effectLst/>
                        </a:rPr>
                        <a:t>30</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0.295800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b="1" dirty="0">
                          <a:effectLst/>
                        </a:rPr>
                        <a:t>1.098807</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b="1" dirty="0">
                          <a:effectLst/>
                        </a:rPr>
                        <a:t>0.830273</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dirty="0">
                          <a:effectLst/>
                        </a:rPr>
                        <a:t>0.705933</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231836369"/>
                  </a:ext>
                </a:extLst>
              </a:tr>
            </a:tbl>
          </a:graphicData>
        </a:graphic>
      </p:graphicFrame>
    </p:spTree>
    <p:extLst>
      <p:ext uri="{BB962C8B-B14F-4D97-AF65-F5344CB8AC3E}">
        <p14:creationId xmlns:p14="http://schemas.microsoft.com/office/powerpoint/2010/main" val="23916483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5A6D2-06CF-3340-E1DE-DC91CFE2816F}"/>
            </a:ext>
          </a:extLst>
        </p:cNvPr>
        <p:cNvGrpSpPr/>
        <p:nvPr/>
      </p:nvGrpSpPr>
      <p:grpSpPr>
        <a:xfrm>
          <a:off x="0" y="0"/>
          <a:ext cx="0" cy="0"/>
          <a:chOff x="0" y="0"/>
          <a:chExt cx="0" cy="0"/>
        </a:xfrm>
      </p:grpSpPr>
      <p:graphicFrame>
        <p:nvGraphicFramePr>
          <p:cNvPr id="9" name="Tabla 8">
            <a:extLst>
              <a:ext uri="{FF2B5EF4-FFF2-40B4-BE49-F238E27FC236}">
                <a16:creationId xmlns:a16="http://schemas.microsoft.com/office/drawing/2014/main" id="{3FAE3F43-EE8B-00A3-7460-41E2D7B367F4}"/>
              </a:ext>
            </a:extLst>
          </p:cNvPr>
          <p:cNvGraphicFramePr>
            <a:graphicFrameLocks noGrp="1"/>
          </p:cNvGraphicFramePr>
          <p:nvPr>
            <p:extLst>
              <p:ext uri="{D42A27DB-BD31-4B8C-83A1-F6EECF244321}">
                <p14:modId xmlns:p14="http://schemas.microsoft.com/office/powerpoint/2010/main" val="1619349363"/>
              </p:ext>
            </p:extLst>
          </p:nvPr>
        </p:nvGraphicFramePr>
        <p:xfrm>
          <a:off x="374365" y="1114157"/>
          <a:ext cx="11443270" cy="4629685"/>
        </p:xfrm>
        <a:graphic>
          <a:graphicData uri="http://schemas.openxmlformats.org/drawingml/2006/table">
            <a:tbl>
              <a:tblPr>
                <a:tableStyleId>{5C22544A-7EE6-4342-B048-85BDC9FD1C3A}</a:tableStyleId>
              </a:tblPr>
              <a:tblGrid>
                <a:gridCol w="6500316">
                  <a:extLst>
                    <a:ext uri="{9D8B030D-6E8A-4147-A177-3AD203B41FA5}">
                      <a16:colId xmlns:a16="http://schemas.microsoft.com/office/drawing/2014/main" val="2909728719"/>
                    </a:ext>
                  </a:extLst>
                </a:gridCol>
                <a:gridCol w="2471477">
                  <a:extLst>
                    <a:ext uri="{9D8B030D-6E8A-4147-A177-3AD203B41FA5}">
                      <a16:colId xmlns:a16="http://schemas.microsoft.com/office/drawing/2014/main" val="1678380673"/>
                    </a:ext>
                  </a:extLst>
                </a:gridCol>
                <a:gridCol w="2471477">
                  <a:extLst>
                    <a:ext uri="{9D8B030D-6E8A-4147-A177-3AD203B41FA5}">
                      <a16:colId xmlns:a16="http://schemas.microsoft.com/office/drawing/2014/main" val="1227484213"/>
                    </a:ext>
                  </a:extLst>
                </a:gridCol>
              </a:tblGrid>
              <a:tr h="1114293">
                <a:tc>
                  <a:txBody>
                    <a:bodyPr/>
                    <a:lstStyle/>
                    <a:p>
                      <a:pPr algn="ctr" fontAlgn="b"/>
                      <a:r>
                        <a:rPr lang="es-MX" sz="3200" b="1" i="0" u="none" strike="noStrike" dirty="0">
                          <a:solidFill>
                            <a:srgbClr val="000000"/>
                          </a:solidFill>
                          <a:effectLst/>
                          <a:latin typeface="Calibri" panose="020F0502020204030204" pitchFamily="34" charset="0"/>
                        </a:rPr>
                        <a:t>Music Video</a:t>
                      </a: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i="0" u="none" strike="noStrike" dirty="0">
                          <a:solidFill>
                            <a:srgbClr val="000000"/>
                          </a:solidFill>
                          <a:effectLst/>
                          <a:latin typeface="Calibri" panose="020F0502020204030204" pitchFamily="34" charset="0"/>
                        </a:rPr>
                        <a:t>English </a:t>
                      </a:r>
                      <a:r>
                        <a:rPr lang="es-MX" sz="3200" b="1" i="0" u="none" strike="noStrike" dirty="0" err="1">
                          <a:solidFill>
                            <a:srgbClr val="000000"/>
                          </a:solidFill>
                          <a:effectLst/>
                          <a:latin typeface="Calibri" panose="020F0502020204030204" pitchFamily="34" charset="0"/>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Hate</a:t>
                      </a:r>
                      <a:r>
                        <a:rPr lang="es-MX" sz="3200" b="1" u="none" strike="noStrike" dirty="0">
                          <a:effectLst/>
                        </a:rPr>
                        <a:t> </a:t>
                      </a:r>
                      <a:r>
                        <a:rPr lang="es-MX" sz="3200" b="1" u="none" strike="noStrike" dirty="0" err="1">
                          <a:effectLst/>
                        </a:rPr>
                        <a:t>Speech</a:t>
                      </a:r>
                      <a:r>
                        <a:rPr lang="es-MX" sz="3200" b="1" u="none" strike="noStrike" dirty="0">
                          <a:effectLst/>
                        </a:rPr>
                        <a:t> </a:t>
                      </a:r>
                      <a:r>
                        <a:rPr lang="es-MX" sz="3200" b="1" u="none" strike="noStrike" dirty="0" err="1">
                          <a:effectLst/>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615958">
                <a:tc>
                  <a:txBody>
                    <a:bodyPr/>
                    <a:lstStyle/>
                    <a:p>
                      <a:pPr algn="ctr"/>
                      <a:r>
                        <a:rPr lang="es-MX" sz="3200" i="1" dirty="0">
                          <a:effectLst/>
                        </a:rPr>
                        <a:t>Black Sabbath ~ </a:t>
                      </a:r>
                      <a:r>
                        <a:rPr lang="es-MX" sz="3200" i="1" dirty="0" err="1">
                          <a:effectLst/>
                        </a:rPr>
                        <a:t>War</a:t>
                      </a:r>
                      <a:r>
                        <a:rPr lang="es-MX" sz="3200" i="1" dirty="0">
                          <a:effectLst/>
                        </a:rPr>
                        <a:t> </a:t>
                      </a:r>
                      <a:r>
                        <a:rPr lang="es-MX" sz="3200" i="1" dirty="0" err="1">
                          <a:effectLst/>
                        </a:rPr>
                        <a:t>Pigs</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29068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154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1034798">
                <a:tc>
                  <a:txBody>
                    <a:bodyPr/>
                    <a:lstStyle/>
                    <a:p>
                      <a:pPr algn="ctr"/>
                      <a:r>
                        <a:rPr lang="en-US" sz="3200" i="1" dirty="0">
                          <a:effectLst/>
                        </a:rPr>
                        <a:t>Hallowed Be Thy Name (2015 Remaster)</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1793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7</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615958">
                <a:tc>
                  <a:txBody>
                    <a:bodyPr/>
                    <a:lstStyle/>
                    <a:p>
                      <a:pPr algn="ctr"/>
                      <a:r>
                        <a:rPr lang="es-MX" sz="3200" i="1" dirty="0">
                          <a:effectLst/>
                        </a:rPr>
                        <a:t>Master of </a:t>
                      </a:r>
                      <a:r>
                        <a:rPr lang="es-MX" sz="3200" i="1" dirty="0" err="1">
                          <a:effectLst/>
                        </a:rPr>
                        <a:t>Puppets</a:t>
                      </a:r>
                      <a:r>
                        <a:rPr lang="es-MX" sz="3200" i="1" dirty="0">
                          <a:effectLst/>
                        </a:rPr>
                        <a:t> (</a:t>
                      </a:r>
                      <a:r>
                        <a:rPr lang="es-MX" sz="3200" i="1" dirty="0" err="1">
                          <a:effectLst/>
                        </a:rPr>
                        <a:t>Remastered</a:t>
                      </a:r>
                      <a:r>
                        <a:rPr lang="es-MX" sz="3200" i="1" dirty="0">
                          <a:effectLst/>
                        </a:rPr>
                        <a:t>)</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10149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14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240856017"/>
                  </a:ext>
                </a:extLst>
              </a:tr>
              <a:tr h="615958">
                <a:tc>
                  <a:txBody>
                    <a:bodyPr/>
                    <a:lstStyle/>
                    <a:p>
                      <a:pPr algn="ctr"/>
                      <a:r>
                        <a:rPr lang="es-MX" sz="3200" i="1" dirty="0">
                          <a:effectLst/>
                        </a:rPr>
                        <a:t>Pantera - Cowboys </a:t>
                      </a:r>
                      <a:r>
                        <a:rPr lang="es-MX" sz="3200" i="1" dirty="0" err="1">
                          <a:effectLst/>
                        </a:rPr>
                        <a:t>From</a:t>
                      </a:r>
                      <a:r>
                        <a:rPr lang="es-MX" sz="3200" i="1" dirty="0">
                          <a:effectLst/>
                        </a:rPr>
                        <a:t> </a:t>
                      </a:r>
                      <a:r>
                        <a:rPr lang="es-MX" sz="3200" i="1" dirty="0" err="1">
                          <a:effectLst/>
                        </a:rPr>
                        <a:t>Hell</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10724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45</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157566007"/>
                  </a:ext>
                </a:extLst>
              </a:tr>
              <a:tr h="615958">
                <a:tc>
                  <a:txBody>
                    <a:bodyPr/>
                    <a:lstStyle/>
                    <a:p>
                      <a:pPr algn="ctr"/>
                      <a:r>
                        <a:rPr lang="es-MX" sz="3200" i="1" dirty="0">
                          <a:effectLst/>
                        </a:rPr>
                        <a:t>Slayer - </a:t>
                      </a:r>
                      <a:r>
                        <a:rPr lang="es-MX" sz="3200" i="1" dirty="0" err="1">
                          <a:effectLst/>
                        </a:rPr>
                        <a:t>Raining</a:t>
                      </a:r>
                      <a:r>
                        <a:rPr lang="es-MX" sz="3200" i="1" dirty="0">
                          <a:effectLst/>
                        </a:rPr>
                        <a:t> </a:t>
                      </a:r>
                      <a:r>
                        <a:rPr lang="es-MX" sz="3200" i="1" dirty="0" err="1">
                          <a:effectLst/>
                        </a:rPr>
                        <a:t>Blood</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17852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94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70466329"/>
                  </a:ext>
                </a:extLst>
              </a:tr>
            </a:tbl>
          </a:graphicData>
        </a:graphic>
      </p:graphicFrame>
    </p:spTree>
    <p:extLst>
      <p:ext uri="{BB962C8B-B14F-4D97-AF65-F5344CB8AC3E}">
        <p14:creationId xmlns:p14="http://schemas.microsoft.com/office/powerpoint/2010/main" val="289576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8ED0E-6D88-4D38-32D8-E33E5137D04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050A9118-E2BC-A6DE-E750-22B54A8DFBD7}"/>
              </a:ext>
            </a:extLst>
          </p:cNvPr>
          <p:cNvSpPr txBox="1"/>
          <p:nvPr/>
        </p:nvSpPr>
        <p:spPr>
          <a:xfrm>
            <a:off x="3047478" y="361003"/>
            <a:ext cx="6097044" cy="369332"/>
          </a:xfrm>
          <a:prstGeom prst="rect">
            <a:avLst/>
          </a:prstGeom>
          <a:noFill/>
        </p:spPr>
        <p:txBody>
          <a:bodyPr wrap="square">
            <a:spAutoFit/>
          </a:bodyPr>
          <a:lstStyle/>
          <a:p>
            <a:pPr algn="ctr"/>
            <a:r>
              <a:rPr lang="es-MX" sz="1800" i="1" dirty="0">
                <a:effectLst/>
              </a:rPr>
              <a:t>Black Sabbath ~ </a:t>
            </a:r>
            <a:r>
              <a:rPr lang="es-MX" sz="1800" i="1" dirty="0" err="1">
                <a:effectLst/>
              </a:rPr>
              <a:t>War</a:t>
            </a:r>
            <a:r>
              <a:rPr lang="es-MX" sz="1800" i="1" dirty="0">
                <a:effectLst/>
              </a:rPr>
              <a:t> </a:t>
            </a:r>
            <a:r>
              <a:rPr lang="es-MX" sz="1800" i="1" dirty="0" err="1">
                <a:effectLst/>
              </a:rPr>
              <a:t>Pigs</a:t>
            </a:r>
            <a:endParaRPr lang="es-MX" sz="1800" i="1" dirty="0">
              <a:effectLst/>
            </a:endParaRPr>
          </a:p>
        </p:txBody>
      </p:sp>
      <p:sp>
        <p:nvSpPr>
          <p:cNvPr id="3" name="CuadroTexto 2">
            <a:extLst>
              <a:ext uri="{FF2B5EF4-FFF2-40B4-BE49-F238E27FC236}">
                <a16:creationId xmlns:a16="http://schemas.microsoft.com/office/drawing/2014/main" id="{3348037A-961E-B3DD-DE05-9FB6C0602771}"/>
              </a:ext>
            </a:extLst>
          </p:cNvPr>
          <p:cNvSpPr txBox="1"/>
          <p:nvPr/>
        </p:nvSpPr>
        <p:spPr>
          <a:xfrm>
            <a:off x="3047478" y="3875720"/>
            <a:ext cx="6097044" cy="369332"/>
          </a:xfrm>
          <a:prstGeom prst="rect">
            <a:avLst/>
          </a:prstGeom>
          <a:noFill/>
        </p:spPr>
        <p:txBody>
          <a:bodyPr wrap="square">
            <a:spAutoFit/>
          </a:bodyPr>
          <a:lstStyle/>
          <a:p>
            <a:pPr algn="ctr"/>
            <a:r>
              <a:rPr lang="en-US" sz="1800" i="1" dirty="0">
                <a:effectLst/>
              </a:rPr>
              <a:t>Hallowed Be Thy Name </a:t>
            </a:r>
            <a:endParaRPr lang="es-MX" sz="1800" i="1" dirty="0">
              <a:effectLst/>
            </a:endParaRPr>
          </a:p>
        </p:txBody>
      </p:sp>
      <p:pic>
        <p:nvPicPr>
          <p:cNvPr id="5" name="Imagen 4">
            <a:extLst>
              <a:ext uri="{FF2B5EF4-FFF2-40B4-BE49-F238E27FC236}">
                <a16:creationId xmlns:a16="http://schemas.microsoft.com/office/drawing/2014/main" id="{8AABF2FD-70B6-2A37-BFC5-D25E5B120B1B}"/>
              </a:ext>
            </a:extLst>
          </p:cNvPr>
          <p:cNvPicPr>
            <a:picLocks noChangeAspect="1"/>
          </p:cNvPicPr>
          <p:nvPr/>
        </p:nvPicPr>
        <p:blipFill>
          <a:blip r:embed="rId2"/>
          <a:stretch>
            <a:fillRect/>
          </a:stretch>
        </p:blipFill>
        <p:spPr>
          <a:xfrm>
            <a:off x="1871597" y="730335"/>
            <a:ext cx="8448806" cy="2844947"/>
          </a:xfrm>
          <a:prstGeom prst="rect">
            <a:avLst/>
          </a:prstGeom>
        </p:spPr>
      </p:pic>
      <p:pic>
        <p:nvPicPr>
          <p:cNvPr id="6" name="Imagen 5">
            <a:extLst>
              <a:ext uri="{FF2B5EF4-FFF2-40B4-BE49-F238E27FC236}">
                <a16:creationId xmlns:a16="http://schemas.microsoft.com/office/drawing/2014/main" id="{A176B9AE-35AC-BC92-C822-DD6BF30EE3E1}"/>
              </a:ext>
            </a:extLst>
          </p:cNvPr>
          <p:cNvPicPr>
            <a:picLocks noChangeAspect="1"/>
          </p:cNvPicPr>
          <p:nvPr/>
        </p:nvPicPr>
        <p:blipFill>
          <a:blip r:embed="rId3"/>
          <a:stretch>
            <a:fillRect/>
          </a:stretch>
        </p:blipFill>
        <p:spPr>
          <a:xfrm>
            <a:off x="1871597" y="4189064"/>
            <a:ext cx="8448806" cy="1891439"/>
          </a:xfrm>
          <a:prstGeom prst="rect">
            <a:avLst/>
          </a:prstGeom>
        </p:spPr>
      </p:pic>
    </p:spTree>
    <p:extLst>
      <p:ext uri="{BB962C8B-B14F-4D97-AF65-F5344CB8AC3E}">
        <p14:creationId xmlns:p14="http://schemas.microsoft.com/office/powerpoint/2010/main" val="9655842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5F1B1-1B81-50C7-B0DD-679963238B6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049B4E9-BC12-EA26-007B-FF65B79778DF}"/>
              </a:ext>
            </a:extLst>
          </p:cNvPr>
          <p:cNvSpPr txBox="1"/>
          <p:nvPr/>
        </p:nvSpPr>
        <p:spPr>
          <a:xfrm>
            <a:off x="1596301" y="1997839"/>
            <a:ext cx="8999398" cy="1015663"/>
          </a:xfrm>
          <a:prstGeom prst="rect">
            <a:avLst/>
          </a:prstGeom>
          <a:noFill/>
        </p:spPr>
        <p:txBody>
          <a:bodyPr wrap="square" rtlCol="0">
            <a:spAutoFit/>
          </a:bodyPr>
          <a:lstStyle/>
          <a:p>
            <a:r>
              <a:rPr lang="es-MX" sz="6000" dirty="0"/>
              <a:t>EXPERIMENT 3:</a:t>
            </a:r>
          </a:p>
        </p:txBody>
      </p:sp>
      <p:sp>
        <p:nvSpPr>
          <p:cNvPr id="2" name="CuadroTexto 1">
            <a:extLst>
              <a:ext uri="{FF2B5EF4-FFF2-40B4-BE49-F238E27FC236}">
                <a16:creationId xmlns:a16="http://schemas.microsoft.com/office/drawing/2014/main" id="{55CAB2EE-A334-9230-893D-7B052A869CD0}"/>
              </a:ext>
            </a:extLst>
          </p:cNvPr>
          <p:cNvSpPr txBox="1"/>
          <p:nvPr/>
        </p:nvSpPr>
        <p:spPr>
          <a:xfrm>
            <a:off x="860612" y="3844499"/>
            <a:ext cx="10757647" cy="2554545"/>
          </a:xfrm>
          <a:prstGeom prst="rect">
            <a:avLst/>
          </a:prstGeom>
          <a:noFill/>
        </p:spPr>
        <p:txBody>
          <a:bodyPr wrap="square" rtlCol="0">
            <a:spAutoFit/>
          </a:bodyPr>
          <a:lstStyle/>
          <a:p>
            <a:pPr>
              <a:buNone/>
            </a:pPr>
            <a:r>
              <a:rPr lang="en-US" sz="3200" dirty="0"/>
              <a:t>TRANSFORMERS: Bert uncase base transformer tokenizer architecture.</a:t>
            </a:r>
          </a:p>
          <a:p>
            <a:pPr>
              <a:buNone/>
            </a:pPr>
            <a:r>
              <a:rPr lang="en-US" sz="3200" dirty="0"/>
              <a:t>	Only using (HATEXPLAIN). </a:t>
            </a:r>
          </a:p>
          <a:p>
            <a:pPr>
              <a:buNone/>
            </a:pPr>
            <a:r>
              <a:rPr lang="en-US" sz="3200" dirty="0"/>
              <a:t>	100 Epochs ~ 100 min. (GPU optimizations)</a:t>
            </a:r>
          </a:p>
          <a:p>
            <a:pPr>
              <a:buNone/>
            </a:pPr>
            <a:r>
              <a:rPr lang="en-US" sz="3200" dirty="0"/>
              <a:t>	</a:t>
            </a:r>
          </a:p>
        </p:txBody>
      </p:sp>
    </p:spTree>
    <p:extLst>
      <p:ext uri="{BB962C8B-B14F-4D97-AF65-F5344CB8AC3E}">
        <p14:creationId xmlns:p14="http://schemas.microsoft.com/office/powerpoint/2010/main" val="1621126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D55A5B9A-3FB3-2ADD-B8D1-30C51BA7FADF}"/>
              </a:ext>
            </a:extLst>
          </p:cNvPr>
          <p:cNvGraphicFramePr>
            <a:graphicFrameLocks noGrp="1"/>
          </p:cNvGraphicFramePr>
          <p:nvPr>
            <p:extLst>
              <p:ext uri="{D42A27DB-BD31-4B8C-83A1-F6EECF244321}">
                <p14:modId xmlns:p14="http://schemas.microsoft.com/office/powerpoint/2010/main" val="2851705247"/>
              </p:ext>
            </p:extLst>
          </p:nvPr>
        </p:nvGraphicFramePr>
        <p:xfrm>
          <a:off x="459810" y="330183"/>
          <a:ext cx="11272380" cy="6158471"/>
        </p:xfrm>
        <a:graphic>
          <a:graphicData uri="http://schemas.openxmlformats.org/drawingml/2006/table">
            <a:tbl>
              <a:tblPr>
                <a:tableStyleId>{5C22544A-7EE6-4342-B048-85BDC9FD1C3A}</a:tableStyleId>
              </a:tblPr>
              <a:tblGrid>
                <a:gridCol w="2254476">
                  <a:extLst>
                    <a:ext uri="{9D8B030D-6E8A-4147-A177-3AD203B41FA5}">
                      <a16:colId xmlns:a16="http://schemas.microsoft.com/office/drawing/2014/main" val="2909728719"/>
                    </a:ext>
                  </a:extLst>
                </a:gridCol>
                <a:gridCol w="2254476">
                  <a:extLst>
                    <a:ext uri="{9D8B030D-6E8A-4147-A177-3AD203B41FA5}">
                      <a16:colId xmlns:a16="http://schemas.microsoft.com/office/drawing/2014/main" val="1678380673"/>
                    </a:ext>
                  </a:extLst>
                </a:gridCol>
                <a:gridCol w="2254476">
                  <a:extLst>
                    <a:ext uri="{9D8B030D-6E8A-4147-A177-3AD203B41FA5}">
                      <a16:colId xmlns:a16="http://schemas.microsoft.com/office/drawing/2014/main" val="1227484213"/>
                    </a:ext>
                  </a:extLst>
                </a:gridCol>
                <a:gridCol w="2254476">
                  <a:extLst>
                    <a:ext uri="{9D8B030D-6E8A-4147-A177-3AD203B41FA5}">
                      <a16:colId xmlns:a16="http://schemas.microsoft.com/office/drawing/2014/main" val="4202898229"/>
                    </a:ext>
                  </a:extLst>
                </a:gridCol>
                <a:gridCol w="2254476">
                  <a:extLst>
                    <a:ext uri="{9D8B030D-6E8A-4147-A177-3AD203B41FA5}">
                      <a16:colId xmlns:a16="http://schemas.microsoft.com/office/drawing/2014/main" val="1805715886"/>
                    </a:ext>
                  </a:extLst>
                </a:gridCol>
              </a:tblGrid>
              <a:tr h="869770">
                <a:tc>
                  <a:txBody>
                    <a:bodyPr/>
                    <a:lstStyle/>
                    <a:p>
                      <a:pPr algn="ctr" fontAlgn="b"/>
                      <a:r>
                        <a:rPr lang="es-MX" sz="2400" b="1" u="none" strike="noStrike" dirty="0" err="1">
                          <a:effectLst/>
                        </a:rPr>
                        <a:t>Epoch</a:t>
                      </a:r>
                      <a:endParaRPr lang="es-MX" sz="2400" b="1"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a:effectLst/>
                        </a:rPr>
                        <a:t>Training </a:t>
                      </a:r>
                      <a:r>
                        <a:rPr lang="es-MX" sz="2400" b="1" u="none" strike="noStrike" dirty="0" err="1">
                          <a:effectLst/>
                        </a:rPr>
                        <a:t>Loss</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err="1">
                          <a:effectLst/>
                        </a:rPr>
                        <a:t>Validation</a:t>
                      </a:r>
                      <a:r>
                        <a:rPr lang="es-MX" sz="2400" b="1" u="none" strike="noStrike" dirty="0">
                          <a:effectLst/>
                        </a:rPr>
                        <a:t> </a:t>
                      </a:r>
                      <a:r>
                        <a:rPr lang="es-MX" sz="2400" b="1" u="none" strike="noStrike" dirty="0" err="1">
                          <a:effectLst/>
                        </a:rPr>
                        <a:t>Loss</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err="1">
                          <a:effectLst/>
                        </a:rPr>
                        <a:t>Accuracy</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2400" b="1" u="none" strike="noStrike" dirty="0">
                          <a:effectLst/>
                        </a:rPr>
                        <a:t>F1</a:t>
                      </a:r>
                      <a:endParaRPr lang="es-MX" sz="24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480791">
                <a:tc>
                  <a:txBody>
                    <a:bodyPr/>
                    <a:lstStyle/>
                    <a:p>
                      <a:pPr algn="ctr"/>
                      <a:r>
                        <a:rPr lang="es-MX" sz="2400" i="1" dirty="0">
                          <a:effectLst/>
                        </a:rPr>
                        <a:t>90</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0.001000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1.698157</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0.847643</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0.738501</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480791">
                <a:tc>
                  <a:txBody>
                    <a:bodyPr/>
                    <a:lstStyle/>
                    <a:p>
                      <a:pPr algn="ctr"/>
                      <a:r>
                        <a:rPr lang="es-MX" sz="2400" i="1" dirty="0">
                          <a:effectLst/>
                        </a:rPr>
                        <a:t>91</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0.002400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1.696244</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0.847643</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0.746700</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480791">
                <a:tc>
                  <a:txBody>
                    <a:bodyPr/>
                    <a:lstStyle/>
                    <a:p>
                      <a:pPr algn="ctr"/>
                      <a:r>
                        <a:rPr lang="es-MX" sz="2400" i="1" dirty="0">
                          <a:effectLst/>
                        </a:rPr>
                        <a:t>92</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0.000600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1.702129</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0.847395</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0.745131</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939953405"/>
                  </a:ext>
                </a:extLst>
              </a:tr>
              <a:tr h="480791">
                <a:tc>
                  <a:txBody>
                    <a:bodyPr/>
                    <a:lstStyle/>
                    <a:p>
                      <a:pPr algn="ctr"/>
                      <a:r>
                        <a:rPr lang="es-MX" sz="2400" i="1">
                          <a:effectLst/>
                        </a:rPr>
                        <a:t>93</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0.000500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1.691137</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0.846650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0.744205</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700943724"/>
                  </a:ext>
                </a:extLst>
              </a:tr>
              <a:tr h="480791">
                <a:tc>
                  <a:txBody>
                    <a:bodyPr/>
                    <a:lstStyle/>
                    <a:p>
                      <a:pPr algn="ctr"/>
                      <a:r>
                        <a:rPr lang="es-MX" sz="2400" i="1" dirty="0">
                          <a:effectLst/>
                        </a:rPr>
                        <a:t>94</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0.000700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1.690722</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0.847395</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0.747018</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954132952"/>
                  </a:ext>
                </a:extLst>
              </a:tr>
              <a:tr h="480791">
                <a:tc>
                  <a:txBody>
                    <a:bodyPr/>
                    <a:lstStyle/>
                    <a:p>
                      <a:pPr algn="ctr"/>
                      <a:r>
                        <a:rPr lang="es-MX" sz="2400" i="1" dirty="0">
                          <a:effectLst/>
                        </a:rPr>
                        <a:t>95</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0.000200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1.695175</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0.848387</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0.746368</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455627239"/>
                  </a:ext>
                </a:extLst>
              </a:tr>
              <a:tr h="480791">
                <a:tc>
                  <a:txBody>
                    <a:bodyPr/>
                    <a:lstStyle/>
                    <a:p>
                      <a:pPr algn="ctr"/>
                      <a:r>
                        <a:rPr lang="es-MX" sz="2400" i="1">
                          <a:effectLst/>
                        </a:rPr>
                        <a:t>96</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0.000700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1.696243</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0.848387</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0.746368</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662730662"/>
                  </a:ext>
                </a:extLst>
              </a:tr>
              <a:tr h="480791">
                <a:tc>
                  <a:txBody>
                    <a:bodyPr/>
                    <a:lstStyle/>
                    <a:p>
                      <a:pPr algn="ctr"/>
                      <a:r>
                        <a:rPr lang="es-MX" sz="2400" i="1" dirty="0">
                          <a:effectLst/>
                        </a:rPr>
                        <a:t>97</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0.000900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1.698236</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0.848387</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0.746368</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22461667"/>
                  </a:ext>
                </a:extLst>
              </a:tr>
              <a:tr h="480791">
                <a:tc>
                  <a:txBody>
                    <a:bodyPr/>
                    <a:lstStyle/>
                    <a:p>
                      <a:pPr algn="ctr"/>
                      <a:r>
                        <a:rPr lang="es-MX" sz="2400" i="1" dirty="0">
                          <a:effectLst/>
                        </a:rPr>
                        <a:t>98</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0.000500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1.699480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0.848139</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0.746058</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086350639"/>
                  </a:ext>
                </a:extLst>
              </a:tr>
              <a:tr h="480791">
                <a:tc>
                  <a:txBody>
                    <a:bodyPr/>
                    <a:lstStyle/>
                    <a:p>
                      <a:pPr algn="ctr"/>
                      <a:r>
                        <a:rPr lang="es-MX" sz="2400" i="1" dirty="0">
                          <a:effectLst/>
                        </a:rPr>
                        <a:t>99</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0.001000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1.700083</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0.847891</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0.745749</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231836369"/>
                  </a:ext>
                </a:extLst>
              </a:tr>
              <a:tr h="480791">
                <a:tc>
                  <a:txBody>
                    <a:bodyPr/>
                    <a:lstStyle/>
                    <a:p>
                      <a:pPr algn="ctr"/>
                      <a:r>
                        <a:rPr lang="es-MX" sz="2400" i="1" dirty="0">
                          <a:effectLst/>
                        </a:rPr>
                        <a:t>100</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b="1">
                          <a:effectLst/>
                        </a:rPr>
                        <a:t>0.000400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b="1" dirty="0">
                          <a:effectLst/>
                        </a:rPr>
                        <a:t>1.698839</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a:effectLst/>
                        </a:rPr>
                        <a:t>0.847643</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2400" dirty="0">
                          <a:effectLst/>
                        </a:rPr>
                        <a:t>0.745650</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98309415"/>
                  </a:ext>
                </a:extLst>
              </a:tr>
            </a:tbl>
          </a:graphicData>
        </a:graphic>
      </p:graphicFrame>
    </p:spTree>
    <p:extLst>
      <p:ext uri="{BB962C8B-B14F-4D97-AF65-F5344CB8AC3E}">
        <p14:creationId xmlns:p14="http://schemas.microsoft.com/office/powerpoint/2010/main" val="4148226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44FEEBD7-B0F6-E33F-24E8-7DECE2273ED1}"/>
              </a:ext>
            </a:extLst>
          </p:cNvPr>
          <p:cNvGraphicFramePr>
            <a:graphicFrameLocks noGrp="1"/>
          </p:cNvGraphicFramePr>
          <p:nvPr>
            <p:extLst>
              <p:ext uri="{D42A27DB-BD31-4B8C-83A1-F6EECF244321}">
                <p14:modId xmlns:p14="http://schemas.microsoft.com/office/powerpoint/2010/main" val="3912299002"/>
              </p:ext>
            </p:extLst>
          </p:nvPr>
        </p:nvGraphicFramePr>
        <p:xfrm>
          <a:off x="374365" y="1114157"/>
          <a:ext cx="11443270" cy="4629685"/>
        </p:xfrm>
        <a:graphic>
          <a:graphicData uri="http://schemas.openxmlformats.org/drawingml/2006/table">
            <a:tbl>
              <a:tblPr>
                <a:tableStyleId>{5C22544A-7EE6-4342-B048-85BDC9FD1C3A}</a:tableStyleId>
              </a:tblPr>
              <a:tblGrid>
                <a:gridCol w="6500316">
                  <a:extLst>
                    <a:ext uri="{9D8B030D-6E8A-4147-A177-3AD203B41FA5}">
                      <a16:colId xmlns:a16="http://schemas.microsoft.com/office/drawing/2014/main" val="2909728719"/>
                    </a:ext>
                  </a:extLst>
                </a:gridCol>
                <a:gridCol w="2471477">
                  <a:extLst>
                    <a:ext uri="{9D8B030D-6E8A-4147-A177-3AD203B41FA5}">
                      <a16:colId xmlns:a16="http://schemas.microsoft.com/office/drawing/2014/main" val="1678380673"/>
                    </a:ext>
                  </a:extLst>
                </a:gridCol>
                <a:gridCol w="2471477">
                  <a:extLst>
                    <a:ext uri="{9D8B030D-6E8A-4147-A177-3AD203B41FA5}">
                      <a16:colId xmlns:a16="http://schemas.microsoft.com/office/drawing/2014/main" val="1227484213"/>
                    </a:ext>
                  </a:extLst>
                </a:gridCol>
              </a:tblGrid>
              <a:tr h="1114293">
                <a:tc>
                  <a:txBody>
                    <a:bodyPr/>
                    <a:lstStyle/>
                    <a:p>
                      <a:pPr algn="ctr" fontAlgn="b"/>
                      <a:r>
                        <a:rPr lang="es-MX" sz="3200" b="1" i="0" u="none" strike="noStrike" dirty="0">
                          <a:solidFill>
                            <a:srgbClr val="000000"/>
                          </a:solidFill>
                          <a:effectLst/>
                          <a:latin typeface="Calibri" panose="020F0502020204030204" pitchFamily="34" charset="0"/>
                        </a:rPr>
                        <a:t>Music Video</a:t>
                      </a: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i="0" u="none" strike="noStrike" dirty="0">
                          <a:solidFill>
                            <a:srgbClr val="000000"/>
                          </a:solidFill>
                          <a:effectLst/>
                          <a:latin typeface="Calibri" panose="020F0502020204030204" pitchFamily="34" charset="0"/>
                        </a:rPr>
                        <a:t>English </a:t>
                      </a:r>
                      <a:r>
                        <a:rPr lang="es-MX" sz="3200" b="1" i="0" u="none" strike="noStrike" dirty="0" err="1">
                          <a:solidFill>
                            <a:srgbClr val="000000"/>
                          </a:solidFill>
                          <a:effectLst/>
                          <a:latin typeface="Calibri" panose="020F0502020204030204" pitchFamily="34" charset="0"/>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Hate</a:t>
                      </a:r>
                      <a:r>
                        <a:rPr lang="es-MX" sz="3200" b="1" u="none" strike="noStrike" dirty="0">
                          <a:effectLst/>
                        </a:rPr>
                        <a:t> </a:t>
                      </a:r>
                      <a:r>
                        <a:rPr lang="es-MX" sz="3200" b="1" u="none" strike="noStrike" dirty="0" err="1">
                          <a:effectLst/>
                        </a:rPr>
                        <a:t>Speech</a:t>
                      </a:r>
                      <a:r>
                        <a:rPr lang="es-MX" sz="3200" b="1" u="none" strike="noStrike" dirty="0">
                          <a:effectLst/>
                        </a:rPr>
                        <a:t> </a:t>
                      </a:r>
                      <a:r>
                        <a:rPr lang="es-MX" sz="3200" b="1" u="none" strike="noStrike" dirty="0" err="1">
                          <a:effectLst/>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615958">
                <a:tc>
                  <a:txBody>
                    <a:bodyPr/>
                    <a:lstStyle/>
                    <a:p>
                      <a:pPr algn="ctr"/>
                      <a:r>
                        <a:rPr lang="es-MX" sz="3200" i="1" dirty="0">
                          <a:effectLst/>
                        </a:rPr>
                        <a:t>Black Sabbath ~ </a:t>
                      </a:r>
                      <a:r>
                        <a:rPr lang="es-MX" sz="3200" i="1" dirty="0" err="1">
                          <a:effectLst/>
                        </a:rPr>
                        <a:t>War</a:t>
                      </a:r>
                      <a:r>
                        <a:rPr lang="es-MX" sz="3200" i="1" dirty="0">
                          <a:effectLst/>
                        </a:rPr>
                        <a:t> </a:t>
                      </a:r>
                      <a:r>
                        <a:rPr lang="es-MX" sz="3200" i="1" dirty="0" err="1">
                          <a:effectLst/>
                        </a:rPr>
                        <a:t>Pigs</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29068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225</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1034798">
                <a:tc>
                  <a:txBody>
                    <a:bodyPr/>
                    <a:lstStyle/>
                    <a:p>
                      <a:pPr algn="ctr"/>
                      <a:r>
                        <a:rPr lang="en-US" sz="3200" i="1" dirty="0">
                          <a:effectLst/>
                        </a:rPr>
                        <a:t>Hallowed Be Thy Name (2015 Remaster)</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1793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6</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615958">
                <a:tc>
                  <a:txBody>
                    <a:bodyPr/>
                    <a:lstStyle/>
                    <a:p>
                      <a:pPr algn="ctr"/>
                      <a:r>
                        <a:rPr lang="es-MX" sz="3200" i="1" dirty="0">
                          <a:effectLst/>
                        </a:rPr>
                        <a:t>Master of </a:t>
                      </a:r>
                      <a:r>
                        <a:rPr lang="es-MX" sz="3200" i="1" dirty="0" err="1">
                          <a:effectLst/>
                        </a:rPr>
                        <a:t>Puppets</a:t>
                      </a:r>
                      <a:r>
                        <a:rPr lang="es-MX" sz="3200" i="1" dirty="0">
                          <a:effectLst/>
                        </a:rPr>
                        <a:t> (</a:t>
                      </a:r>
                      <a:r>
                        <a:rPr lang="es-MX" sz="3200" i="1" dirty="0" err="1">
                          <a:effectLst/>
                        </a:rPr>
                        <a:t>Remastered</a:t>
                      </a:r>
                      <a:r>
                        <a:rPr lang="es-MX" sz="3200" i="1" dirty="0">
                          <a:effectLst/>
                        </a:rPr>
                        <a:t>)</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10149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20</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240856017"/>
                  </a:ext>
                </a:extLst>
              </a:tr>
              <a:tr h="615958">
                <a:tc>
                  <a:txBody>
                    <a:bodyPr/>
                    <a:lstStyle/>
                    <a:p>
                      <a:pPr algn="ctr"/>
                      <a:r>
                        <a:rPr lang="es-MX" sz="3200" i="1" dirty="0">
                          <a:effectLst/>
                        </a:rPr>
                        <a:t>Pantera - Cowboys </a:t>
                      </a:r>
                      <a:r>
                        <a:rPr lang="es-MX" sz="3200" i="1" dirty="0" err="1">
                          <a:effectLst/>
                        </a:rPr>
                        <a:t>From</a:t>
                      </a:r>
                      <a:r>
                        <a:rPr lang="es-MX" sz="3200" i="1" dirty="0">
                          <a:effectLst/>
                        </a:rPr>
                        <a:t> </a:t>
                      </a:r>
                      <a:r>
                        <a:rPr lang="es-MX" sz="3200" i="1" dirty="0" err="1">
                          <a:effectLst/>
                        </a:rPr>
                        <a:t>Hell</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10724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157566007"/>
                  </a:ext>
                </a:extLst>
              </a:tr>
              <a:tr h="615958">
                <a:tc>
                  <a:txBody>
                    <a:bodyPr/>
                    <a:lstStyle/>
                    <a:p>
                      <a:pPr algn="ctr"/>
                      <a:r>
                        <a:rPr lang="es-MX" sz="3200" i="1" dirty="0">
                          <a:effectLst/>
                        </a:rPr>
                        <a:t>Slayer - </a:t>
                      </a:r>
                      <a:r>
                        <a:rPr lang="es-MX" sz="3200" i="1" dirty="0" err="1">
                          <a:effectLst/>
                        </a:rPr>
                        <a:t>Raining</a:t>
                      </a:r>
                      <a:r>
                        <a:rPr lang="es-MX" sz="3200" i="1" dirty="0">
                          <a:effectLst/>
                        </a:rPr>
                        <a:t> </a:t>
                      </a:r>
                      <a:r>
                        <a:rPr lang="es-MX" sz="3200" i="1" dirty="0" err="1">
                          <a:effectLst/>
                        </a:rPr>
                        <a:t>Blood</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17852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144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70466329"/>
                  </a:ext>
                </a:extLst>
              </a:tr>
            </a:tbl>
          </a:graphicData>
        </a:graphic>
      </p:graphicFrame>
    </p:spTree>
    <p:extLst>
      <p:ext uri="{BB962C8B-B14F-4D97-AF65-F5344CB8AC3E}">
        <p14:creationId xmlns:p14="http://schemas.microsoft.com/office/powerpoint/2010/main" val="106778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23351-9D69-D926-DF74-CCE54E32F9E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C4229BF6-E2BD-FF4C-1C60-CA3F785A23F2}"/>
              </a:ext>
            </a:extLst>
          </p:cNvPr>
          <p:cNvSpPr txBox="1"/>
          <p:nvPr/>
        </p:nvSpPr>
        <p:spPr>
          <a:xfrm>
            <a:off x="3047478" y="361003"/>
            <a:ext cx="6097044" cy="369332"/>
          </a:xfrm>
          <a:prstGeom prst="rect">
            <a:avLst/>
          </a:prstGeom>
          <a:noFill/>
        </p:spPr>
        <p:txBody>
          <a:bodyPr wrap="square">
            <a:spAutoFit/>
          </a:bodyPr>
          <a:lstStyle/>
          <a:p>
            <a:pPr algn="ctr"/>
            <a:r>
              <a:rPr lang="es-MX" sz="1800" i="1" dirty="0">
                <a:effectLst/>
              </a:rPr>
              <a:t>Black Sabbath ~ </a:t>
            </a:r>
            <a:r>
              <a:rPr lang="es-MX" sz="1800" i="1" dirty="0" err="1">
                <a:effectLst/>
              </a:rPr>
              <a:t>War</a:t>
            </a:r>
            <a:r>
              <a:rPr lang="es-MX" sz="1800" i="1" dirty="0">
                <a:effectLst/>
              </a:rPr>
              <a:t> </a:t>
            </a:r>
            <a:r>
              <a:rPr lang="es-MX" sz="1800" i="1" dirty="0" err="1">
                <a:effectLst/>
              </a:rPr>
              <a:t>Pigs</a:t>
            </a:r>
            <a:endParaRPr lang="es-MX" sz="1800" i="1" dirty="0">
              <a:effectLst/>
            </a:endParaRPr>
          </a:p>
        </p:txBody>
      </p:sp>
      <p:sp>
        <p:nvSpPr>
          <p:cNvPr id="3" name="CuadroTexto 2">
            <a:extLst>
              <a:ext uri="{FF2B5EF4-FFF2-40B4-BE49-F238E27FC236}">
                <a16:creationId xmlns:a16="http://schemas.microsoft.com/office/drawing/2014/main" id="{F1C96685-03EB-D2FD-7D57-59DA2EC67E93}"/>
              </a:ext>
            </a:extLst>
          </p:cNvPr>
          <p:cNvSpPr txBox="1"/>
          <p:nvPr/>
        </p:nvSpPr>
        <p:spPr>
          <a:xfrm>
            <a:off x="3047478" y="3697507"/>
            <a:ext cx="6097044" cy="369332"/>
          </a:xfrm>
          <a:prstGeom prst="rect">
            <a:avLst/>
          </a:prstGeom>
          <a:noFill/>
        </p:spPr>
        <p:txBody>
          <a:bodyPr wrap="square">
            <a:spAutoFit/>
          </a:bodyPr>
          <a:lstStyle/>
          <a:p>
            <a:pPr algn="ctr"/>
            <a:r>
              <a:rPr lang="en-US" sz="1800" i="1" dirty="0">
                <a:effectLst/>
              </a:rPr>
              <a:t>Hallowed Be Thy Name </a:t>
            </a:r>
            <a:endParaRPr lang="es-MX" sz="1800" i="1" dirty="0">
              <a:effectLst/>
            </a:endParaRPr>
          </a:p>
        </p:txBody>
      </p:sp>
      <p:pic>
        <p:nvPicPr>
          <p:cNvPr id="5" name="Imagen 4">
            <a:extLst>
              <a:ext uri="{FF2B5EF4-FFF2-40B4-BE49-F238E27FC236}">
                <a16:creationId xmlns:a16="http://schemas.microsoft.com/office/drawing/2014/main" id="{EB87BAA1-9964-B83D-E8D3-3CA15C97E26D}"/>
              </a:ext>
            </a:extLst>
          </p:cNvPr>
          <p:cNvPicPr>
            <a:picLocks noChangeAspect="1"/>
          </p:cNvPicPr>
          <p:nvPr/>
        </p:nvPicPr>
        <p:blipFill>
          <a:blip r:embed="rId2"/>
          <a:stretch>
            <a:fillRect/>
          </a:stretch>
        </p:blipFill>
        <p:spPr>
          <a:xfrm>
            <a:off x="1359074" y="730335"/>
            <a:ext cx="9473852" cy="2700659"/>
          </a:xfrm>
          <a:prstGeom prst="rect">
            <a:avLst/>
          </a:prstGeom>
        </p:spPr>
      </p:pic>
      <p:pic>
        <p:nvPicPr>
          <p:cNvPr id="7" name="Imagen 6">
            <a:extLst>
              <a:ext uri="{FF2B5EF4-FFF2-40B4-BE49-F238E27FC236}">
                <a16:creationId xmlns:a16="http://schemas.microsoft.com/office/drawing/2014/main" id="{C411D317-D5FD-1CE0-E598-6CC7FBD47D41}"/>
              </a:ext>
            </a:extLst>
          </p:cNvPr>
          <p:cNvPicPr>
            <a:picLocks noChangeAspect="1"/>
          </p:cNvPicPr>
          <p:nvPr/>
        </p:nvPicPr>
        <p:blipFill>
          <a:blip r:embed="rId3"/>
          <a:stretch>
            <a:fillRect/>
          </a:stretch>
        </p:blipFill>
        <p:spPr>
          <a:xfrm>
            <a:off x="1014608" y="4066839"/>
            <a:ext cx="10162784" cy="2274675"/>
          </a:xfrm>
          <a:prstGeom prst="rect">
            <a:avLst/>
          </a:prstGeom>
        </p:spPr>
      </p:pic>
    </p:spTree>
    <p:extLst>
      <p:ext uri="{BB962C8B-B14F-4D97-AF65-F5344CB8AC3E}">
        <p14:creationId xmlns:p14="http://schemas.microsoft.com/office/powerpoint/2010/main" val="3975468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0B6DD02-27D6-FC55-8A7F-C8F6419EC850}"/>
              </a:ext>
            </a:extLst>
          </p:cNvPr>
          <p:cNvSpPr txBox="1"/>
          <p:nvPr/>
        </p:nvSpPr>
        <p:spPr>
          <a:xfrm>
            <a:off x="1596301" y="437980"/>
            <a:ext cx="8999398" cy="1938992"/>
          </a:xfrm>
          <a:prstGeom prst="rect">
            <a:avLst/>
          </a:prstGeom>
          <a:noFill/>
        </p:spPr>
        <p:txBody>
          <a:bodyPr wrap="square" rtlCol="0">
            <a:spAutoFit/>
          </a:bodyPr>
          <a:lstStyle/>
          <a:p>
            <a:r>
              <a:rPr lang="es-MX" sz="6000" dirty="0" err="1"/>
              <a:t>Conclusions</a:t>
            </a:r>
            <a:r>
              <a:rPr lang="es-MX" sz="6000" dirty="0"/>
              <a:t> of </a:t>
            </a:r>
            <a:r>
              <a:rPr lang="es-MX" sz="6000" dirty="0" err="1"/>
              <a:t>First</a:t>
            </a:r>
            <a:r>
              <a:rPr lang="es-MX" sz="6000" dirty="0"/>
              <a:t> 3 </a:t>
            </a:r>
            <a:r>
              <a:rPr lang="es-MX" sz="6000" dirty="0" err="1"/>
              <a:t>Experiments</a:t>
            </a:r>
            <a:r>
              <a:rPr lang="es-MX" sz="6000" dirty="0"/>
              <a:t>:</a:t>
            </a:r>
          </a:p>
        </p:txBody>
      </p:sp>
      <p:sp>
        <p:nvSpPr>
          <p:cNvPr id="3" name="CuadroTexto 2">
            <a:extLst>
              <a:ext uri="{FF2B5EF4-FFF2-40B4-BE49-F238E27FC236}">
                <a16:creationId xmlns:a16="http://schemas.microsoft.com/office/drawing/2014/main" id="{BE6F1753-8248-CA20-2BC8-920D679EEC23}"/>
              </a:ext>
            </a:extLst>
          </p:cNvPr>
          <p:cNvSpPr txBox="1"/>
          <p:nvPr/>
        </p:nvSpPr>
        <p:spPr>
          <a:xfrm>
            <a:off x="842682" y="3429000"/>
            <a:ext cx="10757647" cy="1077218"/>
          </a:xfrm>
          <a:prstGeom prst="rect">
            <a:avLst/>
          </a:prstGeom>
          <a:noFill/>
        </p:spPr>
        <p:txBody>
          <a:bodyPr wrap="square" rtlCol="0">
            <a:spAutoFit/>
          </a:bodyPr>
          <a:lstStyle/>
          <a:p>
            <a:pPr>
              <a:buNone/>
            </a:pPr>
            <a:r>
              <a:rPr lang="en-US" sz="3200" dirty="0"/>
              <a:t>The model gets overfitting after 2~3 Epochs.</a:t>
            </a:r>
          </a:p>
          <a:p>
            <a:pPr>
              <a:buNone/>
            </a:pPr>
            <a:r>
              <a:rPr lang="en-US" sz="3200" dirty="0"/>
              <a:t>	</a:t>
            </a:r>
          </a:p>
        </p:txBody>
      </p:sp>
    </p:spTree>
    <p:extLst>
      <p:ext uri="{BB962C8B-B14F-4D97-AF65-F5344CB8AC3E}">
        <p14:creationId xmlns:p14="http://schemas.microsoft.com/office/powerpoint/2010/main" val="8636529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6C751-24CF-2738-3D7B-7725652F408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E6B6A33-7AEE-93E3-D208-1BEB587E6171}"/>
              </a:ext>
            </a:extLst>
          </p:cNvPr>
          <p:cNvSpPr txBox="1"/>
          <p:nvPr/>
        </p:nvSpPr>
        <p:spPr>
          <a:xfrm>
            <a:off x="1596301" y="1997839"/>
            <a:ext cx="8999398" cy="1015663"/>
          </a:xfrm>
          <a:prstGeom prst="rect">
            <a:avLst/>
          </a:prstGeom>
          <a:noFill/>
        </p:spPr>
        <p:txBody>
          <a:bodyPr wrap="square" rtlCol="0">
            <a:spAutoFit/>
          </a:bodyPr>
          <a:lstStyle/>
          <a:p>
            <a:r>
              <a:rPr lang="es-MX" sz="6000" dirty="0"/>
              <a:t>EXPERIMENT 4:</a:t>
            </a:r>
          </a:p>
        </p:txBody>
      </p:sp>
      <p:sp>
        <p:nvSpPr>
          <p:cNvPr id="2" name="CuadroTexto 1">
            <a:extLst>
              <a:ext uri="{FF2B5EF4-FFF2-40B4-BE49-F238E27FC236}">
                <a16:creationId xmlns:a16="http://schemas.microsoft.com/office/drawing/2014/main" id="{39BB0182-C313-72AC-44AB-6C0112BFFADE}"/>
              </a:ext>
            </a:extLst>
          </p:cNvPr>
          <p:cNvSpPr txBox="1"/>
          <p:nvPr/>
        </p:nvSpPr>
        <p:spPr>
          <a:xfrm>
            <a:off x="860612" y="3844499"/>
            <a:ext cx="10757647" cy="2554545"/>
          </a:xfrm>
          <a:prstGeom prst="rect">
            <a:avLst/>
          </a:prstGeom>
          <a:noFill/>
        </p:spPr>
        <p:txBody>
          <a:bodyPr wrap="square" rtlCol="0">
            <a:spAutoFit/>
          </a:bodyPr>
          <a:lstStyle/>
          <a:p>
            <a:pPr>
              <a:buNone/>
            </a:pPr>
            <a:r>
              <a:rPr lang="en-US" sz="3200" dirty="0"/>
              <a:t>TRANSFORMERS: Bert uncase base transformer tokenizer architecture.</a:t>
            </a:r>
          </a:p>
          <a:p>
            <a:pPr>
              <a:buNone/>
            </a:pPr>
            <a:r>
              <a:rPr lang="en-US" sz="3200" dirty="0"/>
              <a:t>	Only using (HATEXPLAIN). </a:t>
            </a:r>
          </a:p>
          <a:p>
            <a:pPr>
              <a:buNone/>
            </a:pPr>
            <a:r>
              <a:rPr lang="en-US" sz="3200" dirty="0"/>
              <a:t>	2 Epochs ~ 2 min. (GPU optimizations)</a:t>
            </a:r>
          </a:p>
          <a:p>
            <a:pPr>
              <a:buNone/>
            </a:pPr>
            <a:r>
              <a:rPr lang="en-US" sz="3200" dirty="0"/>
              <a:t>	</a:t>
            </a:r>
          </a:p>
        </p:txBody>
      </p:sp>
    </p:spTree>
    <p:extLst>
      <p:ext uri="{BB962C8B-B14F-4D97-AF65-F5344CB8AC3E}">
        <p14:creationId xmlns:p14="http://schemas.microsoft.com/office/powerpoint/2010/main" val="465728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AE4B1728-F747-88E4-2A0E-EBAFD3249F68}"/>
              </a:ext>
            </a:extLst>
          </p:cNvPr>
          <p:cNvGraphicFramePr>
            <a:graphicFrameLocks noGrp="1"/>
          </p:cNvGraphicFramePr>
          <p:nvPr>
            <p:extLst>
              <p:ext uri="{D42A27DB-BD31-4B8C-83A1-F6EECF244321}">
                <p14:modId xmlns:p14="http://schemas.microsoft.com/office/powerpoint/2010/main" val="2753962715"/>
              </p:ext>
            </p:extLst>
          </p:nvPr>
        </p:nvGraphicFramePr>
        <p:xfrm>
          <a:off x="459810" y="2372677"/>
          <a:ext cx="11272380" cy="2112645"/>
        </p:xfrm>
        <a:graphic>
          <a:graphicData uri="http://schemas.openxmlformats.org/drawingml/2006/table">
            <a:tbl>
              <a:tblPr>
                <a:tableStyleId>{5C22544A-7EE6-4342-B048-85BDC9FD1C3A}</a:tableStyleId>
              </a:tblPr>
              <a:tblGrid>
                <a:gridCol w="2254476">
                  <a:extLst>
                    <a:ext uri="{9D8B030D-6E8A-4147-A177-3AD203B41FA5}">
                      <a16:colId xmlns:a16="http://schemas.microsoft.com/office/drawing/2014/main" val="2909728719"/>
                    </a:ext>
                  </a:extLst>
                </a:gridCol>
                <a:gridCol w="2254476">
                  <a:extLst>
                    <a:ext uri="{9D8B030D-6E8A-4147-A177-3AD203B41FA5}">
                      <a16:colId xmlns:a16="http://schemas.microsoft.com/office/drawing/2014/main" val="1678380673"/>
                    </a:ext>
                  </a:extLst>
                </a:gridCol>
                <a:gridCol w="2254476">
                  <a:extLst>
                    <a:ext uri="{9D8B030D-6E8A-4147-A177-3AD203B41FA5}">
                      <a16:colId xmlns:a16="http://schemas.microsoft.com/office/drawing/2014/main" val="1227484213"/>
                    </a:ext>
                  </a:extLst>
                </a:gridCol>
                <a:gridCol w="2254476">
                  <a:extLst>
                    <a:ext uri="{9D8B030D-6E8A-4147-A177-3AD203B41FA5}">
                      <a16:colId xmlns:a16="http://schemas.microsoft.com/office/drawing/2014/main" val="4202898229"/>
                    </a:ext>
                  </a:extLst>
                </a:gridCol>
                <a:gridCol w="2254476">
                  <a:extLst>
                    <a:ext uri="{9D8B030D-6E8A-4147-A177-3AD203B41FA5}">
                      <a16:colId xmlns:a16="http://schemas.microsoft.com/office/drawing/2014/main" val="1805715886"/>
                    </a:ext>
                  </a:extLst>
                </a:gridCol>
              </a:tblGrid>
              <a:tr h="869770">
                <a:tc>
                  <a:txBody>
                    <a:bodyPr/>
                    <a:lstStyle/>
                    <a:p>
                      <a:pPr algn="ctr" fontAlgn="b"/>
                      <a:r>
                        <a:rPr lang="es-MX" sz="3200" b="1" u="none" strike="noStrike" dirty="0" err="1">
                          <a:effectLst/>
                        </a:rPr>
                        <a:t>Epoch</a:t>
                      </a:r>
                      <a:endParaRPr lang="es-MX" sz="3200" b="1" i="0" u="none" strike="noStrike" dirty="0">
                        <a:solidFill>
                          <a:srgbClr val="000000"/>
                        </a:solidFill>
                        <a:effectLst/>
                        <a:latin typeface="Calibri" panose="020F0502020204030204" pitchFamily="34" charset="0"/>
                      </a:endParaRPr>
                    </a:p>
                  </a:txBody>
                  <a:tcPr marL="9525" marR="9525" marT="9525" marB="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a:effectLst/>
                        </a:rPr>
                        <a:t>Training </a:t>
                      </a:r>
                      <a:r>
                        <a:rPr lang="es-MX" sz="3200" b="1" u="none" strike="noStrike" dirty="0" err="1">
                          <a:effectLst/>
                        </a:rPr>
                        <a:t>Loss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Validation</a:t>
                      </a:r>
                      <a:r>
                        <a:rPr lang="es-MX" sz="3200" b="1" u="none" strike="noStrike" dirty="0">
                          <a:effectLst/>
                        </a:rPr>
                        <a:t> </a:t>
                      </a:r>
                      <a:r>
                        <a:rPr lang="es-MX" sz="3200" b="1" u="none" strike="noStrike" dirty="0" err="1">
                          <a:effectLst/>
                        </a:rPr>
                        <a:t>Loss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Accuracy</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a:effectLst/>
                        </a:rPr>
                        <a:t>F1</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9A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480791">
                <a:tc>
                  <a:txBody>
                    <a:bodyPr/>
                    <a:lstStyle/>
                    <a:p>
                      <a:pPr algn="ctr"/>
                      <a:r>
                        <a:rPr lang="es-MX" sz="3200" i="1" dirty="0">
                          <a:effectLst/>
                        </a:rPr>
                        <a:t>1</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0.376900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a:effectLst/>
                        </a:rPr>
                        <a:t>0.366010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a:effectLst/>
                        </a:rPr>
                        <a:t>0.850372</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0.737026</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rgbClr val="9A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480791">
                <a:tc>
                  <a:txBody>
                    <a:bodyPr/>
                    <a:lstStyle/>
                    <a:p>
                      <a:pPr algn="ctr"/>
                      <a:r>
                        <a:rPr lang="es-MX" sz="3200" i="1" dirty="0">
                          <a:effectLst/>
                        </a:rPr>
                        <a:t>2</a:t>
                      </a:r>
                    </a:p>
                  </a:txBody>
                  <a:tcPr marL="76200" marR="76200" marT="38100" marB="38100" anchor="ctr">
                    <a:lnL w="12700" cap="flat" cmpd="sng" algn="ctr">
                      <a:no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0.310000</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1" dirty="0">
                          <a:effectLst/>
                        </a:rPr>
                        <a:t>0.362552</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1" dirty="0">
                          <a:effectLst/>
                        </a:rPr>
                        <a:t>0.853102</a:t>
                      </a:r>
                    </a:p>
                  </a:txBody>
                  <a:tcPr marL="76200" marR="76200" marT="38100" marB="38100" anchor="ctr">
                    <a:lnL w="38100" cap="flat" cmpd="sng" algn="ctr">
                      <a:solidFill>
                        <a:srgbClr val="9A0000"/>
                      </a:solidFill>
                      <a:prstDash val="solid"/>
                      <a:round/>
                      <a:headEnd type="none" w="med" len="med"/>
                      <a:tailEnd type="none" w="med" len="med"/>
                    </a:lnL>
                    <a:lnR w="38100" cap="flat" cmpd="sng" algn="ctr">
                      <a:solidFill>
                        <a:srgbClr val="9A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0.758761</a:t>
                      </a:r>
                    </a:p>
                  </a:txBody>
                  <a:tcPr marL="76200" marR="76200" marT="38100" marB="38100" anchor="ctr">
                    <a:lnL w="38100" cap="flat" cmpd="sng" algn="ctr">
                      <a:solidFill>
                        <a:srgbClr val="9A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bl>
          </a:graphicData>
        </a:graphic>
      </p:graphicFrame>
      <p:sp>
        <p:nvSpPr>
          <p:cNvPr id="7" name="CuadroTexto 6">
            <a:extLst>
              <a:ext uri="{FF2B5EF4-FFF2-40B4-BE49-F238E27FC236}">
                <a16:creationId xmlns:a16="http://schemas.microsoft.com/office/drawing/2014/main" id="{109FD46A-48A1-90F3-F18A-1CE926BD514C}"/>
              </a:ext>
            </a:extLst>
          </p:cNvPr>
          <p:cNvSpPr txBox="1"/>
          <p:nvPr/>
        </p:nvSpPr>
        <p:spPr>
          <a:xfrm>
            <a:off x="4016188" y="4545173"/>
            <a:ext cx="4159624" cy="584775"/>
          </a:xfrm>
          <a:prstGeom prst="rect">
            <a:avLst/>
          </a:prstGeom>
          <a:noFill/>
        </p:spPr>
        <p:txBody>
          <a:bodyPr wrap="square" rtlCol="0">
            <a:spAutoFit/>
          </a:bodyPr>
          <a:lstStyle/>
          <a:p>
            <a:pPr>
              <a:buNone/>
            </a:pPr>
            <a:r>
              <a:rPr lang="en-US" sz="3200" dirty="0"/>
              <a:t>Training Time: 2:35 min</a:t>
            </a:r>
          </a:p>
        </p:txBody>
      </p:sp>
    </p:spTree>
    <p:extLst>
      <p:ext uri="{BB962C8B-B14F-4D97-AF65-F5344CB8AC3E}">
        <p14:creationId xmlns:p14="http://schemas.microsoft.com/office/powerpoint/2010/main" val="1862365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a 8">
            <a:extLst>
              <a:ext uri="{FF2B5EF4-FFF2-40B4-BE49-F238E27FC236}">
                <a16:creationId xmlns:a16="http://schemas.microsoft.com/office/drawing/2014/main" id="{0B1D9E62-B2B8-384A-6A20-1D5D81B5F1A9}"/>
              </a:ext>
            </a:extLst>
          </p:cNvPr>
          <p:cNvGraphicFramePr>
            <a:graphicFrameLocks noGrp="1"/>
          </p:cNvGraphicFramePr>
          <p:nvPr>
            <p:extLst>
              <p:ext uri="{D42A27DB-BD31-4B8C-83A1-F6EECF244321}">
                <p14:modId xmlns:p14="http://schemas.microsoft.com/office/powerpoint/2010/main" val="2035525679"/>
              </p:ext>
            </p:extLst>
          </p:nvPr>
        </p:nvGraphicFramePr>
        <p:xfrm>
          <a:off x="374365" y="1114157"/>
          <a:ext cx="11443270" cy="4629685"/>
        </p:xfrm>
        <a:graphic>
          <a:graphicData uri="http://schemas.openxmlformats.org/drawingml/2006/table">
            <a:tbl>
              <a:tblPr>
                <a:tableStyleId>{5C22544A-7EE6-4342-B048-85BDC9FD1C3A}</a:tableStyleId>
              </a:tblPr>
              <a:tblGrid>
                <a:gridCol w="6500316">
                  <a:extLst>
                    <a:ext uri="{9D8B030D-6E8A-4147-A177-3AD203B41FA5}">
                      <a16:colId xmlns:a16="http://schemas.microsoft.com/office/drawing/2014/main" val="2909728719"/>
                    </a:ext>
                  </a:extLst>
                </a:gridCol>
                <a:gridCol w="2471477">
                  <a:extLst>
                    <a:ext uri="{9D8B030D-6E8A-4147-A177-3AD203B41FA5}">
                      <a16:colId xmlns:a16="http://schemas.microsoft.com/office/drawing/2014/main" val="1678380673"/>
                    </a:ext>
                  </a:extLst>
                </a:gridCol>
                <a:gridCol w="2471477">
                  <a:extLst>
                    <a:ext uri="{9D8B030D-6E8A-4147-A177-3AD203B41FA5}">
                      <a16:colId xmlns:a16="http://schemas.microsoft.com/office/drawing/2014/main" val="1227484213"/>
                    </a:ext>
                  </a:extLst>
                </a:gridCol>
              </a:tblGrid>
              <a:tr h="1114293">
                <a:tc>
                  <a:txBody>
                    <a:bodyPr/>
                    <a:lstStyle/>
                    <a:p>
                      <a:pPr algn="ctr" fontAlgn="b"/>
                      <a:r>
                        <a:rPr lang="es-MX" sz="3200" b="1" i="0" u="none" strike="noStrike" dirty="0">
                          <a:solidFill>
                            <a:srgbClr val="000000"/>
                          </a:solidFill>
                          <a:effectLst/>
                          <a:latin typeface="Calibri" panose="020F0502020204030204" pitchFamily="34" charset="0"/>
                        </a:rPr>
                        <a:t>Music Video</a:t>
                      </a: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i="0" u="none" strike="noStrike" dirty="0">
                          <a:solidFill>
                            <a:srgbClr val="000000"/>
                          </a:solidFill>
                          <a:effectLst/>
                          <a:latin typeface="Calibri" panose="020F0502020204030204" pitchFamily="34" charset="0"/>
                        </a:rPr>
                        <a:t>English </a:t>
                      </a:r>
                      <a:r>
                        <a:rPr lang="es-MX" sz="3200" b="1" i="0" u="none" strike="noStrike" dirty="0" err="1">
                          <a:solidFill>
                            <a:srgbClr val="000000"/>
                          </a:solidFill>
                          <a:effectLst/>
                          <a:latin typeface="Calibri" panose="020F0502020204030204" pitchFamily="34" charset="0"/>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Hate</a:t>
                      </a:r>
                      <a:r>
                        <a:rPr lang="es-MX" sz="3200" b="1" u="none" strike="noStrike" dirty="0">
                          <a:effectLst/>
                        </a:rPr>
                        <a:t> </a:t>
                      </a:r>
                      <a:r>
                        <a:rPr lang="es-MX" sz="3200" b="1" u="none" strike="noStrike" dirty="0" err="1">
                          <a:effectLst/>
                        </a:rPr>
                        <a:t>Speech</a:t>
                      </a:r>
                      <a:r>
                        <a:rPr lang="es-MX" sz="3200" b="1" u="none" strike="noStrike" dirty="0">
                          <a:effectLst/>
                        </a:rPr>
                        <a:t> </a:t>
                      </a:r>
                      <a:r>
                        <a:rPr lang="es-MX" sz="3200" b="1" u="none" strike="noStrike" dirty="0" err="1">
                          <a:effectLst/>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615958">
                <a:tc>
                  <a:txBody>
                    <a:bodyPr/>
                    <a:lstStyle/>
                    <a:p>
                      <a:pPr algn="ctr"/>
                      <a:r>
                        <a:rPr lang="es-MX" sz="3200" i="1" dirty="0">
                          <a:effectLst/>
                        </a:rPr>
                        <a:t>Black Sabbath ~ </a:t>
                      </a:r>
                      <a:r>
                        <a:rPr lang="es-MX" sz="3200" i="1" dirty="0" err="1">
                          <a:effectLst/>
                        </a:rPr>
                        <a:t>War</a:t>
                      </a:r>
                      <a:r>
                        <a:rPr lang="es-MX" sz="3200" i="1" dirty="0">
                          <a:effectLst/>
                        </a:rPr>
                        <a:t> </a:t>
                      </a:r>
                      <a:r>
                        <a:rPr lang="es-MX" sz="3200" i="1" dirty="0" err="1">
                          <a:effectLst/>
                        </a:rPr>
                        <a:t>Pigs</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29068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170</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1034798">
                <a:tc>
                  <a:txBody>
                    <a:bodyPr/>
                    <a:lstStyle/>
                    <a:p>
                      <a:pPr algn="ctr"/>
                      <a:r>
                        <a:rPr lang="en-US" sz="3200" i="1" dirty="0">
                          <a:effectLst/>
                        </a:rPr>
                        <a:t>Hallowed Be Thy Name (2015 Remaster)</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1793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0</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615958">
                <a:tc>
                  <a:txBody>
                    <a:bodyPr/>
                    <a:lstStyle/>
                    <a:p>
                      <a:pPr algn="ctr"/>
                      <a:r>
                        <a:rPr lang="es-MX" sz="3200" i="1" dirty="0">
                          <a:effectLst/>
                        </a:rPr>
                        <a:t>Master of </a:t>
                      </a:r>
                      <a:r>
                        <a:rPr lang="es-MX" sz="3200" i="1" dirty="0" err="1">
                          <a:effectLst/>
                        </a:rPr>
                        <a:t>Puppets</a:t>
                      </a:r>
                      <a:r>
                        <a:rPr lang="es-MX" sz="3200" i="1" dirty="0">
                          <a:effectLst/>
                        </a:rPr>
                        <a:t> (</a:t>
                      </a:r>
                      <a:r>
                        <a:rPr lang="es-MX" sz="3200" i="1" dirty="0" err="1">
                          <a:effectLst/>
                        </a:rPr>
                        <a:t>Remastered</a:t>
                      </a:r>
                      <a:r>
                        <a:rPr lang="es-MX" sz="3200" i="1" dirty="0">
                          <a:effectLst/>
                        </a:rPr>
                        <a:t>)</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10149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10</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240856017"/>
                  </a:ext>
                </a:extLst>
              </a:tr>
              <a:tr h="615958">
                <a:tc>
                  <a:txBody>
                    <a:bodyPr/>
                    <a:lstStyle/>
                    <a:p>
                      <a:pPr algn="ctr"/>
                      <a:r>
                        <a:rPr lang="es-MX" sz="3200" i="1" dirty="0">
                          <a:effectLst/>
                        </a:rPr>
                        <a:t>Pantera - Cowboys </a:t>
                      </a:r>
                      <a:r>
                        <a:rPr lang="es-MX" sz="3200" i="1" dirty="0" err="1">
                          <a:effectLst/>
                        </a:rPr>
                        <a:t>From</a:t>
                      </a:r>
                      <a:r>
                        <a:rPr lang="es-MX" sz="3200" i="1" dirty="0">
                          <a:effectLst/>
                        </a:rPr>
                        <a:t> </a:t>
                      </a:r>
                      <a:r>
                        <a:rPr lang="es-MX" sz="3200" i="1" dirty="0" err="1">
                          <a:effectLst/>
                        </a:rPr>
                        <a:t>Hell</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10724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32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157566007"/>
                  </a:ext>
                </a:extLst>
              </a:tr>
              <a:tr h="615958">
                <a:tc>
                  <a:txBody>
                    <a:bodyPr/>
                    <a:lstStyle/>
                    <a:p>
                      <a:pPr algn="ctr"/>
                      <a:r>
                        <a:rPr lang="es-MX" sz="3200" i="1" dirty="0">
                          <a:effectLst/>
                        </a:rPr>
                        <a:t>Slayer - </a:t>
                      </a:r>
                      <a:r>
                        <a:rPr lang="es-MX" sz="3200" i="1" dirty="0" err="1">
                          <a:effectLst/>
                        </a:rPr>
                        <a:t>Raining</a:t>
                      </a:r>
                      <a:r>
                        <a:rPr lang="es-MX" sz="3200" i="1" dirty="0">
                          <a:effectLst/>
                        </a:rPr>
                        <a:t> </a:t>
                      </a:r>
                      <a:r>
                        <a:rPr lang="es-MX" sz="3200" i="1" dirty="0" err="1">
                          <a:effectLst/>
                        </a:rPr>
                        <a:t>Blood</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17852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78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70466329"/>
                  </a:ext>
                </a:extLst>
              </a:tr>
            </a:tbl>
          </a:graphicData>
        </a:graphic>
      </p:graphicFrame>
    </p:spTree>
    <p:extLst>
      <p:ext uri="{BB962C8B-B14F-4D97-AF65-F5344CB8AC3E}">
        <p14:creationId xmlns:p14="http://schemas.microsoft.com/office/powerpoint/2010/main" val="11615085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C4B9C-DD15-8DD3-E71A-EFEA6B883B8B}"/>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31E3E6F2-A0CA-B741-952D-FE417C9CC64D}"/>
              </a:ext>
            </a:extLst>
          </p:cNvPr>
          <p:cNvSpPr txBox="1"/>
          <p:nvPr/>
        </p:nvSpPr>
        <p:spPr>
          <a:xfrm>
            <a:off x="3047478" y="361003"/>
            <a:ext cx="6097044" cy="369332"/>
          </a:xfrm>
          <a:prstGeom prst="rect">
            <a:avLst/>
          </a:prstGeom>
          <a:noFill/>
        </p:spPr>
        <p:txBody>
          <a:bodyPr wrap="square">
            <a:spAutoFit/>
          </a:bodyPr>
          <a:lstStyle/>
          <a:p>
            <a:pPr algn="ctr"/>
            <a:r>
              <a:rPr lang="es-MX" sz="1800" i="1" dirty="0">
                <a:effectLst/>
              </a:rPr>
              <a:t>Master of </a:t>
            </a:r>
            <a:r>
              <a:rPr lang="es-MX" sz="1800" i="1" dirty="0" err="1">
                <a:effectLst/>
              </a:rPr>
              <a:t>Puppets</a:t>
            </a:r>
            <a:endParaRPr lang="es-MX" sz="1800" i="1" dirty="0">
              <a:effectLst/>
            </a:endParaRPr>
          </a:p>
        </p:txBody>
      </p:sp>
      <p:sp>
        <p:nvSpPr>
          <p:cNvPr id="3" name="CuadroTexto 2">
            <a:extLst>
              <a:ext uri="{FF2B5EF4-FFF2-40B4-BE49-F238E27FC236}">
                <a16:creationId xmlns:a16="http://schemas.microsoft.com/office/drawing/2014/main" id="{69857E82-28CA-B065-32E4-F09163927B23}"/>
              </a:ext>
            </a:extLst>
          </p:cNvPr>
          <p:cNvSpPr txBox="1"/>
          <p:nvPr/>
        </p:nvSpPr>
        <p:spPr>
          <a:xfrm>
            <a:off x="3047478" y="3697507"/>
            <a:ext cx="6097044" cy="369332"/>
          </a:xfrm>
          <a:prstGeom prst="rect">
            <a:avLst/>
          </a:prstGeom>
          <a:noFill/>
        </p:spPr>
        <p:txBody>
          <a:bodyPr wrap="square">
            <a:spAutoFit/>
          </a:bodyPr>
          <a:lstStyle/>
          <a:p>
            <a:pPr algn="ctr"/>
            <a:r>
              <a:rPr lang="en-US" sz="1800" i="1" dirty="0">
                <a:effectLst/>
              </a:rPr>
              <a:t>Slayer - Raining Blood</a:t>
            </a:r>
            <a:endParaRPr lang="es-MX" sz="1800" i="1" dirty="0">
              <a:effectLst/>
            </a:endParaRPr>
          </a:p>
        </p:txBody>
      </p:sp>
      <p:pic>
        <p:nvPicPr>
          <p:cNvPr id="5" name="Imagen 4">
            <a:extLst>
              <a:ext uri="{FF2B5EF4-FFF2-40B4-BE49-F238E27FC236}">
                <a16:creationId xmlns:a16="http://schemas.microsoft.com/office/drawing/2014/main" id="{9F4D9A0B-6C4A-7115-C32F-F2F152557227}"/>
              </a:ext>
            </a:extLst>
          </p:cNvPr>
          <p:cNvPicPr>
            <a:picLocks noChangeAspect="1"/>
          </p:cNvPicPr>
          <p:nvPr/>
        </p:nvPicPr>
        <p:blipFill>
          <a:blip r:embed="rId2"/>
          <a:stretch>
            <a:fillRect/>
          </a:stretch>
        </p:blipFill>
        <p:spPr>
          <a:xfrm>
            <a:off x="961372" y="786702"/>
            <a:ext cx="10269255" cy="2715188"/>
          </a:xfrm>
          <a:prstGeom prst="rect">
            <a:avLst/>
          </a:prstGeom>
        </p:spPr>
      </p:pic>
      <p:pic>
        <p:nvPicPr>
          <p:cNvPr id="7" name="Imagen 6">
            <a:extLst>
              <a:ext uri="{FF2B5EF4-FFF2-40B4-BE49-F238E27FC236}">
                <a16:creationId xmlns:a16="http://schemas.microsoft.com/office/drawing/2014/main" id="{81BC5582-48BC-171F-82EB-8334FD46E00E}"/>
              </a:ext>
            </a:extLst>
          </p:cNvPr>
          <p:cNvPicPr>
            <a:picLocks noChangeAspect="1"/>
          </p:cNvPicPr>
          <p:nvPr/>
        </p:nvPicPr>
        <p:blipFill>
          <a:blip r:embed="rId3"/>
          <a:stretch>
            <a:fillRect/>
          </a:stretch>
        </p:blipFill>
        <p:spPr>
          <a:xfrm>
            <a:off x="1600201" y="4142811"/>
            <a:ext cx="8991598" cy="2711449"/>
          </a:xfrm>
          <a:prstGeom prst="rect">
            <a:avLst/>
          </a:prstGeom>
        </p:spPr>
      </p:pic>
    </p:spTree>
    <p:extLst>
      <p:ext uri="{BB962C8B-B14F-4D97-AF65-F5344CB8AC3E}">
        <p14:creationId xmlns:p14="http://schemas.microsoft.com/office/powerpoint/2010/main" val="4263142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1E4E6-94E6-B3EA-653C-245C77542F2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7A01763-7B07-2392-CE5E-7D82D119B458}"/>
              </a:ext>
            </a:extLst>
          </p:cNvPr>
          <p:cNvSpPr txBox="1"/>
          <p:nvPr/>
        </p:nvSpPr>
        <p:spPr>
          <a:xfrm>
            <a:off x="1596301" y="1997839"/>
            <a:ext cx="8999398" cy="1015663"/>
          </a:xfrm>
          <a:prstGeom prst="rect">
            <a:avLst/>
          </a:prstGeom>
          <a:noFill/>
        </p:spPr>
        <p:txBody>
          <a:bodyPr wrap="square" rtlCol="0">
            <a:spAutoFit/>
          </a:bodyPr>
          <a:lstStyle/>
          <a:p>
            <a:r>
              <a:rPr lang="es-MX" sz="6000" dirty="0"/>
              <a:t>EXPERIMENT 5:</a:t>
            </a:r>
          </a:p>
        </p:txBody>
      </p:sp>
      <p:sp>
        <p:nvSpPr>
          <p:cNvPr id="2" name="CuadroTexto 1">
            <a:extLst>
              <a:ext uri="{FF2B5EF4-FFF2-40B4-BE49-F238E27FC236}">
                <a16:creationId xmlns:a16="http://schemas.microsoft.com/office/drawing/2014/main" id="{042A160B-3D35-613A-1FC0-D6838908A6ED}"/>
              </a:ext>
            </a:extLst>
          </p:cNvPr>
          <p:cNvSpPr txBox="1"/>
          <p:nvPr/>
        </p:nvSpPr>
        <p:spPr>
          <a:xfrm>
            <a:off x="860612" y="3844499"/>
            <a:ext cx="10757647" cy="2554545"/>
          </a:xfrm>
          <a:prstGeom prst="rect">
            <a:avLst/>
          </a:prstGeom>
          <a:noFill/>
        </p:spPr>
        <p:txBody>
          <a:bodyPr wrap="square" rtlCol="0">
            <a:spAutoFit/>
          </a:bodyPr>
          <a:lstStyle/>
          <a:p>
            <a:pPr>
              <a:buNone/>
            </a:pPr>
            <a:r>
              <a:rPr lang="en-US" sz="3200" dirty="0"/>
              <a:t>TRANSFORMERS: Bert uncase base transformer tokenizer architecture.</a:t>
            </a:r>
          </a:p>
          <a:p>
            <a:pPr>
              <a:buNone/>
            </a:pPr>
            <a:r>
              <a:rPr lang="en-US" sz="3200" dirty="0"/>
              <a:t>	Using (HATEXPLAIN &amp; ETHOS). </a:t>
            </a:r>
          </a:p>
          <a:p>
            <a:pPr>
              <a:buNone/>
            </a:pPr>
            <a:r>
              <a:rPr lang="en-US" sz="3200" dirty="0"/>
              <a:t>	2 Epochs ~ 1 min. (GPU optimizations)</a:t>
            </a:r>
          </a:p>
          <a:p>
            <a:pPr>
              <a:buNone/>
            </a:pPr>
            <a:r>
              <a:rPr lang="en-US" sz="3200" dirty="0"/>
              <a:t>	</a:t>
            </a:r>
          </a:p>
        </p:txBody>
      </p:sp>
    </p:spTree>
    <p:extLst>
      <p:ext uri="{BB962C8B-B14F-4D97-AF65-F5344CB8AC3E}">
        <p14:creationId xmlns:p14="http://schemas.microsoft.com/office/powerpoint/2010/main" val="13467886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C0003-1212-6F0D-B3D1-E33B415949F8}"/>
            </a:ext>
          </a:extLst>
        </p:cNvPr>
        <p:cNvGrpSpPr/>
        <p:nvPr/>
      </p:nvGrpSpPr>
      <p:grpSpPr>
        <a:xfrm>
          <a:off x="0" y="0"/>
          <a:ext cx="0" cy="0"/>
          <a:chOff x="0" y="0"/>
          <a:chExt cx="0" cy="0"/>
        </a:xfrm>
      </p:grpSpPr>
      <p:graphicFrame>
        <p:nvGraphicFramePr>
          <p:cNvPr id="9" name="Tabla 8">
            <a:extLst>
              <a:ext uri="{FF2B5EF4-FFF2-40B4-BE49-F238E27FC236}">
                <a16:creationId xmlns:a16="http://schemas.microsoft.com/office/drawing/2014/main" id="{EBC048B1-6F09-5489-B645-50C0DF385E9C}"/>
              </a:ext>
            </a:extLst>
          </p:cNvPr>
          <p:cNvGraphicFramePr>
            <a:graphicFrameLocks noGrp="1"/>
          </p:cNvGraphicFramePr>
          <p:nvPr>
            <p:extLst>
              <p:ext uri="{D42A27DB-BD31-4B8C-83A1-F6EECF244321}">
                <p14:modId xmlns:p14="http://schemas.microsoft.com/office/powerpoint/2010/main" val="543249086"/>
              </p:ext>
            </p:extLst>
          </p:nvPr>
        </p:nvGraphicFramePr>
        <p:xfrm>
          <a:off x="374365" y="1114157"/>
          <a:ext cx="11443270" cy="4629685"/>
        </p:xfrm>
        <a:graphic>
          <a:graphicData uri="http://schemas.openxmlformats.org/drawingml/2006/table">
            <a:tbl>
              <a:tblPr>
                <a:tableStyleId>{5C22544A-7EE6-4342-B048-85BDC9FD1C3A}</a:tableStyleId>
              </a:tblPr>
              <a:tblGrid>
                <a:gridCol w="6500316">
                  <a:extLst>
                    <a:ext uri="{9D8B030D-6E8A-4147-A177-3AD203B41FA5}">
                      <a16:colId xmlns:a16="http://schemas.microsoft.com/office/drawing/2014/main" val="2909728719"/>
                    </a:ext>
                  </a:extLst>
                </a:gridCol>
                <a:gridCol w="2471477">
                  <a:extLst>
                    <a:ext uri="{9D8B030D-6E8A-4147-A177-3AD203B41FA5}">
                      <a16:colId xmlns:a16="http://schemas.microsoft.com/office/drawing/2014/main" val="1678380673"/>
                    </a:ext>
                  </a:extLst>
                </a:gridCol>
                <a:gridCol w="2471477">
                  <a:extLst>
                    <a:ext uri="{9D8B030D-6E8A-4147-A177-3AD203B41FA5}">
                      <a16:colId xmlns:a16="http://schemas.microsoft.com/office/drawing/2014/main" val="1227484213"/>
                    </a:ext>
                  </a:extLst>
                </a:gridCol>
              </a:tblGrid>
              <a:tr h="1114293">
                <a:tc>
                  <a:txBody>
                    <a:bodyPr/>
                    <a:lstStyle/>
                    <a:p>
                      <a:pPr algn="ctr" fontAlgn="b"/>
                      <a:r>
                        <a:rPr lang="es-MX" sz="3200" b="1" i="0" u="none" strike="noStrike" dirty="0">
                          <a:solidFill>
                            <a:srgbClr val="000000"/>
                          </a:solidFill>
                          <a:effectLst/>
                          <a:latin typeface="Calibri" panose="020F0502020204030204" pitchFamily="34" charset="0"/>
                        </a:rPr>
                        <a:t>Music Video</a:t>
                      </a: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i="0" u="none" strike="noStrike" dirty="0">
                          <a:solidFill>
                            <a:srgbClr val="000000"/>
                          </a:solidFill>
                          <a:effectLst/>
                          <a:latin typeface="Calibri" panose="020F0502020204030204" pitchFamily="34" charset="0"/>
                        </a:rPr>
                        <a:t>English </a:t>
                      </a:r>
                      <a:r>
                        <a:rPr lang="es-MX" sz="3200" b="1" i="0" u="none" strike="noStrike" dirty="0" err="1">
                          <a:solidFill>
                            <a:srgbClr val="000000"/>
                          </a:solidFill>
                          <a:effectLst/>
                          <a:latin typeface="Calibri" panose="020F0502020204030204" pitchFamily="34" charset="0"/>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Hate</a:t>
                      </a:r>
                      <a:r>
                        <a:rPr lang="es-MX" sz="3200" b="1" u="none" strike="noStrike" dirty="0">
                          <a:effectLst/>
                        </a:rPr>
                        <a:t> </a:t>
                      </a:r>
                      <a:r>
                        <a:rPr lang="es-MX" sz="3200" b="1" u="none" strike="noStrike" dirty="0" err="1">
                          <a:effectLst/>
                        </a:rPr>
                        <a:t>Speech</a:t>
                      </a:r>
                      <a:r>
                        <a:rPr lang="es-MX" sz="3200" b="1" u="none" strike="noStrike" dirty="0">
                          <a:effectLst/>
                        </a:rPr>
                        <a:t> </a:t>
                      </a:r>
                      <a:r>
                        <a:rPr lang="es-MX" sz="3200" b="1" u="none" strike="noStrike" dirty="0" err="1">
                          <a:effectLst/>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615958">
                <a:tc>
                  <a:txBody>
                    <a:bodyPr/>
                    <a:lstStyle/>
                    <a:p>
                      <a:pPr algn="ctr"/>
                      <a:r>
                        <a:rPr lang="es-MX" sz="3200" i="1" dirty="0">
                          <a:effectLst/>
                        </a:rPr>
                        <a:t>Black Sabbath ~ </a:t>
                      </a:r>
                      <a:r>
                        <a:rPr lang="es-MX" sz="3200" i="1" dirty="0" err="1">
                          <a:effectLst/>
                        </a:rPr>
                        <a:t>War</a:t>
                      </a:r>
                      <a:r>
                        <a:rPr lang="es-MX" sz="3200" i="1" dirty="0">
                          <a:effectLst/>
                        </a:rPr>
                        <a:t> </a:t>
                      </a:r>
                      <a:r>
                        <a:rPr lang="es-MX" sz="3200" i="1" dirty="0" err="1">
                          <a:effectLst/>
                        </a:rPr>
                        <a:t>Pigs</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29068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207</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1034798">
                <a:tc>
                  <a:txBody>
                    <a:bodyPr/>
                    <a:lstStyle/>
                    <a:p>
                      <a:pPr algn="ctr"/>
                      <a:r>
                        <a:rPr lang="en-US" sz="3200" i="1" dirty="0">
                          <a:effectLst/>
                        </a:rPr>
                        <a:t>Hallowed Be Thy Name (2015 Remaster)</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1793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615958">
                <a:tc>
                  <a:txBody>
                    <a:bodyPr/>
                    <a:lstStyle/>
                    <a:p>
                      <a:pPr algn="ctr"/>
                      <a:r>
                        <a:rPr lang="es-MX" sz="3200" i="1" dirty="0">
                          <a:effectLst/>
                        </a:rPr>
                        <a:t>Master of </a:t>
                      </a:r>
                      <a:r>
                        <a:rPr lang="es-MX" sz="3200" i="1" dirty="0" err="1">
                          <a:effectLst/>
                        </a:rPr>
                        <a:t>Puppets</a:t>
                      </a:r>
                      <a:r>
                        <a:rPr lang="es-MX" sz="3200" i="1" dirty="0">
                          <a:effectLst/>
                        </a:rPr>
                        <a:t> (</a:t>
                      </a:r>
                      <a:r>
                        <a:rPr lang="es-MX" sz="3200" i="1" dirty="0" err="1">
                          <a:effectLst/>
                        </a:rPr>
                        <a:t>Remastered</a:t>
                      </a:r>
                      <a:r>
                        <a:rPr lang="es-MX" sz="3200" i="1" dirty="0">
                          <a:effectLst/>
                        </a:rPr>
                        <a:t>)</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10149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240856017"/>
                  </a:ext>
                </a:extLst>
              </a:tr>
              <a:tr h="615958">
                <a:tc>
                  <a:txBody>
                    <a:bodyPr/>
                    <a:lstStyle/>
                    <a:p>
                      <a:pPr algn="ctr"/>
                      <a:r>
                        <a:rPr lang="es-MX" sz="3200" i="1" dirty="0">
                          <a:effectLst/>
                        </a:rPr>
                        <a:t>Pantera - Cowboys </a:t>
                      </a:r>
                      <a:r>
                        <a:rPr lang="es-MX" sz="3200" i="1" dirty="0" err="1">
                          <a:effectLst/>
                        </a:rPr>
                        <a:t>From</a:t>
                      </a:r>
                      <a:r>
                        <a:rPr lang="es-MX" sz="3200" i="1" dirty="0">
                          <a:effectLst/>
                        </a:rPr>
                        <a:t> </a:t>
                      </a:r>
                      <a:r>
                        <a:rPr lang="es-MX" sz="3200" i="1" dirty="0" err="1">
                          <a:effectLst/>
                        </a:rPr>
                        <a:t>Hell</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10724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30</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157566007"/>
                  </a:ext>
                </a:extLst>
              </a:tr>
              <a:tr h="615958">
                <a:tc>
                  <a:txBody>
                    <a:bodyPr/>
                    <a:lstStyle/>
                    <a:p>
                      <a:pPr algn="ctr"/>
                      <a:r>
                        <a:rPr lang="es-MX" sz="3200" i="1" dirty="0">
                          <a:effectLst/>
                        </a:rPr>
                        <a:t>Slayer - </a:t>
                      </a:r>
                      <a:r>
                        <a:rPr lang="es-MX" sz="3200" i="1" dirty="0" err="1">
                          <a:effectLst/>
                        </a:rPr>
                        <a:t>Raining</a:t>
                      </a:r>
                      <a:r>
                        <a:rPr lang="es-MX" sz="3200" i="1" dirty="0">
                          <a:effectLst/>
                        </a:rPr>
                        <a:t> </a:t>
                      </a:r>
                      <a:r>
                        <a:rPr lang="es-MX" sz="3200" i="1" dirty="0" err="1">
                          <a:effectLst/>
                        </a:rPr>
                        <a:t>Blood</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17852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61</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70466329"/>
                  </a:ext>
                </a:extLst>
              </a:tr>
            </a:tbl>
          </a:graphicData>
        </a:graphic>
      </p:graphicFrame>
    </p:spTree>
    <p:extLst>
      <p:ext uri="{BB962C8B-B14F-4D97-AF65-F5344CB8AC3E}">
        <p14:creationId xmlns:p14="http://schemas.microsoft.com/office/powerpoint/2010/main" val="6052514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6D98-BF20-B212-1FAB-461FC332884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BD281D06-182A-7A13-E379-DF9E0C194EA0}"/>
              </a:ext>
            </a:extLst>
          </p:cNvPr>
          <p:cNvSpPr txBox="1"/>
          <p:nvPr/>
        </p:nvSpPr>
        <p:spPr>
          <a:xfrm>
            <a:off x="3047478" y="361003"/>
            <a:ext cx="6097044" cy="369332"/>
          </a:xfrm>
          <a:prstGeom prst="rect">
            <a:avLst/>
          </a:prstGeom>
          <a:noFill/>
        </p:spPr>
        <p:txBody>
          <a:bodyPr wrap="square">
            <a:spAutoFit/>
          </a:bodyPr>
          <a:lstStyle/>
          <a:p>
            <a:pPr algn="ctr"/>
            <a:r>
              <a:rPr lang="es-MX" sz="1800" i="1" dirty="0">
                <a:effectLst/>
              </a:rPr>
              <a:t>Master of </a:t>
            </a:r>
            <a:r>
              <a:rPr lang="es-MX" sz="1800" i="1" dirty="0" err="1">
                <a:effectLst/>
              </a:rPr>
              <a:t>Puppets</a:t>
            </a:r>
            <a:endParaRPr lang="es-MX" sz="1800" i="1" dirty="0">
              <a:effectLst/>
            </a:endParaRPr>
          </a:p>
        </p:txBody>
      </p:sp>
      <p:sp>
        <p:nvSpPr>
          <p:cNvPr id="3" name="CuadroTexto 2">
            <a:extLst>
              <a:ext uri="{FF2B5EF4-FFF2-40B4-BE49-F238E27FC236}">
                <a16:creationId xmlns:a16="http://schemas.microsoft.com/office/drawing/2014/main" id="{F29AB6CB-026D-43E3-654A-3ED71FD817C4}"/>
              </a:ext>
            </a:extLst>
          </p:cNvPr>
          <p:cNvSpPr txBox="1"/>
          <p:nvPr/>
        </p:nvSpPr>
        <p:spPr>
          <a:xfrm>
            <a:off x="3047478" y="3697507"/>
            <a:ext cx="6097044" cy="369332"/>
          </a:xfrm>
          <a:prstGeom prst="rect">
            <a:avLst/>
          </a:prstGeom>
          <a:noFill/>
        </p:spPr>
        <p:txBody>
          <a:bodyPr wrap="square">
            <a:spAutoFit/>
          </a:bodyPr>
          <a:lstStyle/>
          <a:p>
            <a:pPr algn="ctr"/>
            <a:r>
              <a:rPr lang="en-US" sz="1800" i="1" dirty="0">
                <a:effectLst/>
              </a:rPr>
              <a:t>Slayer - Raining Blood</a:t>
            </a:r>
            <a:endParaRPr lang="es-MX" sz="1800" i="1" dirty="0">
              <a:effectLst/>
            </a:endParaRPr>
          </a:p>
        </p:txBody>
      </p:sp>
      <p:pic>
        <p:nvPicPr>
          <p:cNvPr id="5" name="Imagen 4">
            <a:extLst>
              <a:ext uri="{FF2B5EF4-FFF2-40B4-BE49-F238E27FC236}">
                <a16:creationId xmlns:a16="http://schemas.microsoft.com/office/drawing/2014/main" id="{03781D2B-F9A5-F565-A3D6-62CAB560722E}"/>
              </a:ext>
            </a:extLst>
          </p:cNvPr>
          <p:cNvPicPr>
            <a:picLocks noChangeAspect="1"/>
          </p:cNvPicPr>
          <p:nvPr/>
        </p:nvPicPr>
        <p:blipFill>
          <a:blip r:embed="rId2"/>
          <a:stretch>
            <a:fillRect/>
          </a:stretch>
        </p:blipFill>
        <p:spPr>
          <a:xfrm>
            <a:off x="1628383" y="730335"/>
            <a:ext cx="8935233" cy="2817722"/>
          </a:xfrm>
          <a:prstGeom prst="rect">
            <a:avLst/>
          </a:prstGeom>
        </p:spPr>
      </p:pic>
      <p:pic>
        <p:nvPicPr>
          <p:cNvPr id="7" name="Imagen 6">
            <a:extLst>
              <a:ext uri="{FF2B5EF4-FFF2-40B4-BE49-F238E27FC236}">
                <a16:creationId xmlns:a16="http://schemas.microsoft.com/office/drawing/2014/main" id="{F89BD82D-8ACB-7CCD-4BBA-E13F7FEF72CD}"/>
              </a:ext>
            </a:extLst>
          </p:cNvPr>
          <p:cNvPicPr>
            <a:picLocks noChangeAspect="1"/>
          </p:cNvPicPr>
          <p:nvPr/>
        </p:nvPicPr>
        <p:blipFill>
          <a:blip r:embed="rId3"/>
          <a:stretch>
            <a:fillRect/>
          </a:stretch>
        </p:blipFill>
        <p:spPr>
          <a:xfrm>
            <a:off x="2141949" y="4068982"/>
            <a:ext cx="7908099" cy="2726102"/>
          </a:xfrm>
          <a:prstGeom prst="rect">
            <a:avLst/>
          </a:prstGeom>
        </p:spPr>
      </p:pic>
    </p:spTree>
    <p:extLst>
      <p:ext uri="{BB962C8B-B14F-4D97-AF65-F5344CB8AC3E}">
        <p14:creationId xmlns:p14="http://schemas.microsoft.com/office/powerpoint/2010/main" val="8588162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B5C45-2F71-D360-6D76-165925F3D30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3D9576E-AFB3-3C6B-76CF-C93E8F4766B7}"/>
              </a:ext>
            </a:extLst>
          </p:cNvPr>
          <p:cNvSpPr txBox="1"/>
          <p:nvPr/>
        </p:nvSpPr>
        <p:spPr>
          <a:xfrm>
            <a:off x="1596301" y="1997839"/>
            <a:ext cx="8999398" cy="1015663"/>
          </a:xfrm>
          <a:prstGeom prst="rect">
            <a:avLst/>
          </a:prstGeom>
          <a:noFill/>
        </p:spPr>
        <p:txBody>
          <a:bodyPr wrap="square" rtlCol="0">
            <a:spAutoFit/>
          </a:bodyPr>
          <a:lstStyle/>
          <a:p>
            <a:r>
              <a:rPr lang="es-MX" sz="6000" dirty="0"/>
              <a:t>EXPERIMENT 6:</a:t>
            </a:r>
          </a:p>
        </p:txBody>
      </p:sp>
      <p:sp>
        <p:nvSpPr>
          <p:cNvPr id="2" name="CuadroTexto 1">
            <a:extLst>
              <a:ext uri="{FF2B5EF4-FFF2-40B4-BE49-F238E27FC236}">
                <a16:creationId xmlns:a16="http://schemas.microsoft.com/office/drawing/2014/main" id="{C59AC96C-EF48-0251-5EA9-AB56451569EB}"/>
              </a:ext>
            </a:extLst>
          </p:cNvPr>
          <p:cNvSpPr txBox="1"/>
          <p:nvPr/>
        </p:nvSpPr>
        <p:spPr>
          <a:xfrm>
            <a:off x="717176" y="3429000"/>
            <a:ext cx="10757647" cy="3046988"/>
          </a:xfrm>
          <a:prstGeom prst="rect">
            <a:avLst/>
          </a:prstGeom>
          <a:noFill/>
        </p:spPr>
        <p:txBody>
          <a:bodyPr wrap="square" rtlCol="0">
            <a:spAutoFit/>
          </a:bodyPr>
          <a:lstStyle/>
          <a:p>
            <a:pPr>
              <a:buNone/>
            </a:pPr>
            <a:r>
              <a:rPr lang="en-US" sz="3200" dirty="0"/>
              <a:t>TRANSFORMERS: Best variant of </a:t>
            </a:r>
            <a:r>
              <a:rPr lang="en-US" sz="3200" b="1" dirty="0"/>
              <a:t>Bert for Hate Speech </a:t>
            </a:r>
            <a:r>
              <a:rPr lang="en-US" sz="3200" dirty="0"/>
              <a:t>detection (</a:t>
            </a:r>
            <a:r>
              <a:rPr lang="es-MX" sz="3200" dirty="0" err="1"/>
              <a:t>HateBERT</a:t>
            </a:r>
            <a:r>
              <a:rPr lang="es-MX" sz="3200" dirty="0"/>
              <a:t>, </a:t>
            </a:r>
            <a:r>
              <a:rPr lang="es-MX" sz="3200" dirty="0" err="1"/>
              <a:t>RoBERTa</a:t>
            </a:r>
            <a:r>
              <a:rPr lang="es-MX" sz="3200" dirty="0"/>
              <a:t> </a:t>
            </a:r>
            <a:r>
              <a:rPr lang="es-MX" sz="3200" dirty="0" err="1"/>
              <a:t>variant</a:t>
            </a:r>
            <a:r>
              <a:rPr lang="es-MX" sz="3200" dirty="0"/>
              <a:t> </a:t>
            </a:r>
            <a:r>
              <a:rPr lang="es-MX" sz="3200" dirty="0" err="1"/>
              <a:t>trained</a:t>
            </a:r>
            <a:r>
              <a:rPr lang="es-MX" sz="3200" dirty="0"/>
              <a:t> </a:t>
            </a:r>
            <a:r>
              <a:rPr lang="es-MX" sz="3200" dirty="0" err="1"/>
              <a:t>with</a:t>
            </a:r>
            <a:r>
              <a:rPr lang="es-MX" sz="3200" dirty="0"/>
              <a:t> </a:t>
            </a:r>
            <a:r>
              <a:rPr lang="es-MX" sz="3200" dirty="0" err="1"/>
              <a:t>toxic</a:t>
            </a:r>
            <a:r>
              <a:rPr lang="es-MX" sz="3200" dirty="0"/>
              <a:t> </a:t>
            </a:r>
            <a:r>
              <a:rPr lang="es-MX" sz="3200" dirty="0" err="1"/>
              <a:t>comments</a:t>
            </a:r>
            <a:r>
              <a:rPr lang="es-MX" sz="3200" dirty="0"/>
              <a:t> of </a:t>
            </a:r>
            <a:r>
              <a:rPr lang="es-MX" sz="3200" dirty="0" err="1"/>
              <a:t>reddit</a:t>
            </a:r>
            <a:r>
              <a:rPr lang="en-US" sz="3200" dirty="0"/>
              <a:t>).</a:t>
            </a:r>
          </a:p>
          <a:p>
            <a:pPr>
              <a:buNone/>
            </a:pPr>
            <a:r>
              <a:rPr lang="en-US" sz="3200" dirty="0"/>
              <a:t>	Without Fine Tuning.</a:t>
            </a:r>
          </a:p>
          <a:p>
            <a:pPr>
              <a:buNone/>
            </a:pPr>
            <a:r>
              <a:rPr lang="en-US" sz="3200" dirty="0"/>
              <a:t>	2 Epochs ~ 1 min. (GPU optimizations)</a:t>
            </a:r>
          </a:p>
          <a:p>
            <a:pPr>
              <a:buNone/>
            </a:pPr>
            <a:r>
              <a:rPr lang="en-US" sz="3200" dirty="0"/>
              <a:t>	</a:t>
            </a:r>
          </a:p>
        </p:txBody>
      </p:sp>
    </p:spTree>
    <p:extLst>
      <p:ext uri="{BB962C8B-B14F-4D97-AF65-F5344CB8AC3E}">
        <p14:creationId xmlns:p14="http://schemas.microsoft.com/office/powerpoint/2010/main" val="25693223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80FF03F0-9ADC-5C1F-825C-523D99FA3BC1}"/>
              </a:ext>
            </a:extLst>
          </p:cNvPr>
          <p:cNvGraphicFramePr>
            <a:graphicFrameLocks noGrp="1"/>
          </p:cNvGraphicFramePr>
          <p:nvPr>
            <p:extLst>
              <p:ext uri="{D42A27DB-BD31-4B8C-83A1-F6EECF244321}">
                <p14:modId xmlns:p14="http://schemas.microsoft.com/office/powerpoint/2010/main" val="3372321638"/>
              </p:ext>
            </p:extLst>
          </p:nvPr>
        </p:nvGraphicFramePr>
        <p:xfrm>
          <a:off x="374365" y="1114157"/>
          <a:ext cx="11443270" cy="4629685"/>
        </p:xfrm>
        <a:graphic>
          <a:graphicData uri="http://schemas.openxmlformats.org/drawingml/2006/table">
            <a:tbl>
              <a:tblPr>
                <a:tableStyleId>{5C22544A-7EE6-4342-B048-85BDC9FD1C3A}</a:tableStyleId>
              </a:tblPr>
              <a:tblGrid>
                <a:gridCol w="6500316">
                  <a:extLst>
                    <a:ext uri="{9D8B030D-6E8A-4147-A177-3AD203B41FA5}">
                      <a16:colId xmlns:a16="http://schemas.microsoft.com/office/drawing/2014/main" val="2909728719"/>
                    </a:ext>
                  </a:extLst>
                </a:gridCol>
                <a:gridCol w="2471477">
                  <a:extLst>
                    <a:ext uri="{9D8B030D-6E8A-4147-A177-3AD203B41FA5}">
                      <a16:colId xmlns:a16="http://schemas.microsoft.com/office/drawing/2014/main" val="1678380673"/>
                    </a:ext>
                  </a:extLst>
                </a:gridCol>
                <a:gridCol w="2471477">
                  <a:extLst>
                    <a:ext uri="{9D8B030D-6E8A-4147-A177-3AD203B41FA5}">
                      <a16:colId xmlns:a16="http://schemas.microsoft.com/office/drawing/2014/main" val="1227484213"/>
                    </a:ext>
                  </a:extLst>
                </a:gridCol>
              </a:tblGrid>
              <a:tr h="1114293">
                <a:tc>
                  <a:txBody>
                    <a:bodyPr/>
                    <a:lstStyle/>
                    <a:p>
                      <a:pPr algn="ctr" fontAlgn="b"/>
                      <a:r>
                        <a:rPr lang="es-MX" sz="3200" b="1" i="0" u="none" strike="noStrike" dirty="0">
                          <a:solidFill>
                            <a:srgbClr val="000000"/>
                          </a:solidFill>
                          <a:effectLst/>
                          <a:latin typeface="Calibri" panose="020F0502020204030204" pitchFamily="34" charset="0"/>
                        </a:rPr>
                        <a:t>Music Video</a:t>
                      </a: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i="0" u="none" strike="noStrike" dirty="0">
                          <a:solidFill>
                            <a:srgbClr val="000000"/>
                          </a:solidFill>
                          <a:effectLst/>
                          <a:latin typeface="Calibri" panose="020F0502020204030204" pitchFamily="34" charset="0"/>
                        </a:rPr>
                        <a:t>English </a:t>
                      </a:r>
                      <a:r>
                        <a:rPr lang="es-MX" sz="3200" b="1" i="0" u="none" strike="noStrike" dirty="0" err="1">
                          <a:solidFill>
                            <a:srgbClr val="000000"/>
                          </a:solidFill>
                          <a:effectLst/>
                          <a:latin typeface="Calibri" panose="020F0502020204030204" pitchFamily="34" charset="0"/>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Hate</a:t>
                      </a:r>
                      <a:r>
                        <a:rPr lang="es-MX" sz="3200" b="1" u="none" strike="noStrike" dirty="0">
                          <a:effectLst/>
                        </a:rPr>
                        <a:t> </a:t>
                      </a:r>
                      <a:r>
                        <a:rPr lang="es-MX" sz="3200" b="1" u="none" strike="noStrike" dirty="0" err="1">
                          <a:effectLst/>
                        </a:rPr>
                        <a:t>Speech</a:t>
                      </a:r>
                      <a:r>
                        <a:rPr lang="es-MX" sz="3200" b="1" u="none" strike="noStrike" dirty="0">
                          <a:effectLst/>
                        </a:rPr>
                        <a:t> </a:t>
                      </a:r>
                      <a:r>
                        <a:rPr lang="es-MX" sz="3200" b="1" u="none" strike="noStrike" dirty="0" err="1">
                          <a:effectLst/>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615958">
                <a:tc>
                  <a:txBody>
                    <a:bodyPr/>
                    <a:lstStyle/>
                    <a:p>
                      <a:pPr algn="ctr"/>
                      <a:r>
                        <a:rPr lang="es-MX" sz="3200" i="1" dirty="0">
                          <a:effectLst/>
                        </a:rPr>
                        <a:t>Black Sabbath ~ </a:t>
                      </a:r>
                      <a:r>
                        <a:rPr lang="es-MX" sz="3200" i="1" dirty="0" err="1">
                          <a:effectLst/>
                        </a:rPr>
                        <a:t>War</a:t>
                      </a:r>
                      <a:r>
                        <a:rPr lang="es-MX" sz="3200" i="1" dirty="0">
                          <a:effectLst/>
                        </a:rPr>
                        <a:t> </a:t>
                      </a:r>
                      <a:r>
                        <a:rPr lang="es-MX" sz="3200" i="1" dirty="0" err="1">
                          <a:effectLst/>
                        </a:rPr>
                        <a:t>Pigs</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29068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3388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1034798">
                <a:tc>
                  <a:txBody>
                    <a:bodyPr/>
                    <a:lstStyle/>
                    <a:p>
                      <a:pPr algn="ctr"/>
                      <a:r>
                        <a:rPr lang="en-US" sz="3200" i="1" dirty="0">
                          <a:effectLst/>
                        </a:rPr>
                        <a:t>Hallowed Be Thy Name (2015 Remaster)</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1793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265</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615958">
                <a:tc>
                  <a:txBody>
                    <a:bodyPr/>
                    <a:lstStyle/>
                    <a:p>
                      <a:pPr algn="ctr"/>
                      <a:r>
                        <a:rPr lang="es-MX" sz="3200" i="1" dirty="0">
                          <a:effectLst/>
                        </a:rPr>
                        <a:t>Master of </a:t>
                      </a:r>
                      <a:r>
                        <a:rPr lang="es-MX" sz="3200" i="1" dirty="0" err="1">
                          <a:effectLst/>
                        </a:rPr>
                        <a:t>Puppets</a:t>
                      </a:r>
                      <a:r>
                        <a:rPr lang="es-MX" sz="3200" i="1" dirty="0">
                          <a:effectLst/>
                        </a:rPr>
                        <a:t> (</a:t>
                      </a:r>
                      <a:r>
                        <a:rPr lang="es-MX" sz="3200" i="1" dirty="0" err="1">
                          <a:effectLst/>
                        </a:rPr>
                        <a:t>Remastered</a:t>
                      </a:r>
                      <a:r>
                        <a:rPr lang="es-MX" sz="3200" i="1" dirty="0">
                          <a:effectLst/>
                        </a:rPr>
                        <a:t>)</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10149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1664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240856017"/>
                  </a:ext>
                </a:extLst>
              </a:tr>
              <a:tr h="615958">
                <a:tc>
                  <a:txBody>
                    <a:bodyPr/>
                    <a:lstStyle/>
                    <a:p>
                      <a:pPr algn="ctr"/>
                      <a:r>
                        <a:rPr lang="es-MX" sz="3200" i="1" dirty="0">
                          <a:effectLst/>
                        </a:rPr>
                        <a:t>Pantera - Cowboys </a:t>
                      </a:r>
                      <a:r>
                        <a:rPr lang="es-MX" sz="3200" i="1" dirty="0" err="1">
                          <a:effectLst/>
                        </a:rPr>
                        <a:t>From</a:t>
                      </a:r>
                      <a:r>
                        <a:rPr lang="es-MX" sz="3200" i="1" dirty="0">
                          <a:effectLst/>
                        </a:rPr>
                        <a:t> </a:t>
                      </a:r>
                      <a:r>
                        <a:rPr lang="es-MX" sz="3200" i="1" dirty="0" err="1">
                          <a:effectLst/>
                        </a:rPr>
                        <a:t>Hell</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10724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1686</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157566007"/>
                  </a:ext>
                </a:extLst>
              </a:tr>
              <a:tr h="615958">
                <a:tc>
                  <a:txBody>
                    <a:bodyPr/>
                    <a:lstStyle/>
                    <a:p>
                      <a:pPr algn="ctr"/>
                      <a:r>
                        <a:rPr lang="es-MX" sz="3200" i="1" dirty="0">
                          <a:effectLst/>
                        </a:rPr>
                        <a:t>Slayer - </a:t>
                      </a:r>
                      <a:r>
                        <a:rPr lang="es-MX" sz="3200" i="1" dirty="0" err="1">
                          <a:effectLst/>
                        </a:rPr>
                        <a:t>Raining</a:t>
                      </a:r>
                      <a:r>
                        <a:rPr lang="es-MX" sz="3200" i="1" dirty="0">
                          <a:effectLst/>
                        </a:rPr>
                        <a:t> </a:t>
                      </a:r>
                      <a:r>
                        <a:rPr lang="es-MX" sz="3200" i="1" dirty="0" err="1">
                          <a:effectLst/>
                        </a:rPr>
                        <a:t>Blood</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17852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2424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70466329"/>
                  </a:ext>
                </a:extLst>
              </a:tr>
            </a:tbl>
          </a:graphicData>
        </a:graphic>
      </p:graphicFrame>
    </p:spTree>
    <p:extLst>
      <p:ext uri="{BB962C8B-B14F-4D97-AF65-F5344CB8AC3E}">
        <p14:creationId xmlns:p14="http://schemas.microsoft.com/office/powerpoint/2010/main" val="8961991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7C2C5-140D-20A7-8F8F-9E7175C1D5B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1201ACE-4EBF-DD99-B589-6ED3BEAC0F12}"/>
              </a:ext>
            </a:extLst>
          </p:cNvPr>
          <p:cNvSpPr txBox="1"/>
          <p:nvPr/>
        </p:nvSpPr>
        <p:spPr>
          <a:xfrm>
            <a:off x="3047478" y="361003"/>
            <a:ext cx="6097044" cy="369332"/>
          </a:xfrm>
          <a:prstGeom prst="rect">
            <a:avLst/>
          </a:prstGeom>
          <a:noFill/>
        </p:spPr>
        <p:txBody>
          <a:bodyPr wrap="square">
            <a:spAutoFit/>
          </a:bodyPr>
          <a:lstStyle/>
          <a:p>
            <a:pPr algn="ctr"/>
            <a:r>
              <a:rPr lang="es-MX" sz="1800" i="1" dirty="0">
                <a:effectLst/>
              </a:rPr>
              <a:t>Master of </a:t>
            </a:r>
            <a:r>
              <a:rPr lang="es-MX" sz="1800" i="1" dirty="0" err="1">
                <a:effectLst/>
              </a:rPr>
              <a:t>Puppets</a:t>
            </a:r>
            <a:endParaRPr lang="es-MX" sz="1800" i="1" dirty="0">
              <a:effectLst/>
            </a:endParaRPr>
          </a:p>
        </p:txBody>
      </p:sp>
      <p:sp>
        <p:nvSpPr>
          <p:cNvPr id="3" name="CuadroTexto 2">
            <a:extLst>
              <a:ext uri="{FF2B5EF4-FFF2-40B4-BE49-F238E27FC236}">
                <a16:creationId xmlns:a16="http://schemas.microsoft.com/office/drawing/2014/main" id="{C1015307-6195-53F9-B883-32D88306B932}"/>
              </a:ext>
            </a:extLst>
          </p:cNvPr>
          <p:cNvSpPr txBox="1"/>
          <p:nvPr/>
        </p:nvSpPr>
        <p:spPr>
          <a:xfrm>
            <a:off x="3047478" y="3697507"/>
            <a:ext cx="6097044" cy="369332"/>
          </a:xfrm>
          <a:prstGeom prst="rect">
            <a:avLst/>
          </a:prstGeom>
          <a:noFill/>
        </p:spPr>
        <p:txBody>
          <a:bodyPr wrap="square">
            <a:spAutoFit/>
          </a:bodyPr>
          <a:lstStyle/>
          <a:p>
            <a:pPr algn="ctr"/>
            <a:r>
              <a:rPr lang="en-US" sz="1800" i="1" dirty="0">
                <a:effectLst/>
              </a:rPr>
              <a:t>Slayer - Raining Blood</a:t>
            </a:r>
            <a:endParaRPr lang="es-MX" sz="1800" i="1" dirty="0">
              <a:effectLst/>
            </a:endParaRPr>
          </a:p>
        </p:txBody>
      </p:sp>
      <p:pic>
        <p:nvPicPr>
          <p:cNvPr id="5" name="Imagen 4">
            <a:extLst>
              <a:ext uri="{FF2B5EF4-FFF2-40B4-BE49-F238E27FC236}">
                <a16:creationId xmlns:a16="http://schemas.microsoft.com/office/drawing/2014/main" id="{B9F0FB36-C7C7-FC2E-461B-B6E39A4990DB}"/>
              </a:ext>
            </a:extLst>
          </p:cNvPr>
          <p:cNvPicPr>
            <a:picLocks noChangeAspect="1"/>
          </p:cNvPicPr>
          <p:nvPr/>
        </p:nvPicPr>
        <p:blipFill>
          <a:blip r:embed="rId2"/>
          <a:stretch>
            <a:fillRect/>
          </a:stretch>
        </p:blipFill>
        <p:spPr>
          <a:xfrm>
            <a:off x="2140744" y="730335"/>
            <a:ext cx="7910512" cy="2843378"/>
          </a:xfrm>
          <a:prstGeom prst="rect">
            <a:avLst/>
          </a:prstGeom>
        </p:spPr>
      </p:pic>
      <p:pic>
        <p:nvPicPr>
          <p:cNvPr id="7" name="Imagen 6">
            <a:extLst>
              <a:ext uri="{FF2B5EF4-FFF2-40B4-BE49-F238E27FC236}">
                <a16:creationId xmlns:a16="http://schemas.microsoft.com/office/drawing/2014/main" id="{ABD172D1-AF09-579C-0085-271A2D8ECE00}"/>
              </a:ext>
            </a:extLst>
          </p:cNvPr>
          <p:cNvPicPr>
            <a:picLocks noChangeAspect="1"/>
          </p:cNvPicPr>
          <p:nvPr/>
        </p:nvPicPr>
        <p:blipFill>
          <a:blip r:embed="rId3"/>
          <a:stretch>
            <a:fillRect/>
          </a:stretch>
        </p:blipFill>
        <p:spPr>
          <a:xfrm>
            <a:off x="1969048" y="4190633"/>
            <a:ext cx="8253904" cy="2470914"/>
          </a:xfrm>
          <a:prstGeom prst="rect">
            <a:avLst/>
          </a:prstGeom>
        </p:spPr>
      </p:pic>
    </p:spTree>
    <p:extLst>
      <p:ext uri="{BB962C8B-B14F-4D97-AF65-F5344CB8AC3E}">
        <p14:creationId xmlns:p14="http://schemas.microsoft.com/office/powerpoint/2010/main" val="32835487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18475-1F38-B17C-E1F6-84153B198F0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10FE238-0AC9-AE46-DBA1-8DCF81B22954}"/>
              </a:ext>
            </a:extLst>
          </p:cNvPr>
          <p:cNvSpPr txBox="1"/>
          <p:nvPr/>
        </p:nvSpPr>
        <p:spPr>
          <a:xfrm>
            <a:off x="1596301" y="1997839"/>
            <a:ext cx="8999398" cy="1015663"/>
          </a:xfrm>
          <a:prstGeom prst="rect">
            <a:avLst/>
          </a:prstGeom>
          <a:noFill/>
        </p:spPr>
        <p:txBody>
          <a:bodyPr wrap="square" rtlCol="0">
            <a:spAutoFit/>
          </a:bodyPr>
          <a:lstStyle/>
          <a:p>
            <a:r>
              <a:rPr lang="es-MX" sz="6000" dirty="0"/>
              <a:t>EXPERIMENT 7:</a:t>
            </a:r>
          </a:p>
        </p:txBody>
      </p:sp>
      <p:sp>
        <p:nvSpPr>
          <p:cNvPr id="2" name="CuadroTexto 1">
            <a:extLst>
              <a:ext uri="{FF2B5EF4-FFF2-40B4-BE49-F238E27FC236}">
                <a16:creationId xmlns:a16="http://schemas.microsoft.com/office/drawing/2014/main" id="{6E89B6C8-3509-F8A7-9C06-21B9CA8434B4}"/>
              </a:ext>
            </a:extLst>
          </p:cNvPr>
          <p:cNvSpPr txBox="1"/>
          <p:nvPr/>
        </p:nvSpPr>
        <p:spPr>
          <a:xfrm>
            <a:off x="717176" y="3481245"/>
            <a:ext cx="10757647" cy="2554545"/>
          </a:xfrm>
          <a:prstGeom prst="rect">
            <a:avLst/>
          </a:prstGeom>
          <a:noFill/>
        </p:spPr>
        <p:txBody>
          <a:bodyPr wrap="square" rtlCol="0">
            <a:spAutoFit/>
          </a:bodyPr>
          <a:lstStyle/>
          <a:p>
            <a:pPr>
              <a:buNone/>
            </a:pPr>
            <a:r>
              <a:rPr lang="en-US" sz="3200" dirty="0"/>
              <a:t>TRANSFORMERS: Best variant of </a:t>
            </a:r>
            <a:r>
              <a:rPr lang="en-US" sz="3200" b="1" dirty="0"/>
              <a:t>Bert for Hate Speech </a:t>
            </a:r>
            <a:r>
              <a:rPr lang="en-US" sz="3200" dirty="0"/>
              <a:t>detection (</a:t>
            </a:r>
            <a:r>
              <a:rPr lang="es-MX" sz="3200" dirty="0" err="1"/>
              <a:t>HateBERT</a:t>
            </a:r>
            <a:r>
              <a:rPr lang="en-US" sz="3200" dirty="0"/>
              <a:t>).</a:t>
            </a:r>
          </a:p>
          <a:p>
            <a:pPr>
              <a:buNone/>
            </a:pPr>
            <a:r>
              <a:rPr lang="en-US" sz="3200" dirty="0"/>
              <a:t>	Fine tuning using (HATEXPLAIN, ETHOS). </a:t>
            </a:r>
          </a:p>
          <a:p>
            <a:pPr>
              <a:buNone/>
            </a:pPr>
            <a:r>
              <a:rPr lang="en-US" sz="3200" dirty="0"/>
              <a:t>	2 Epochs ~ 10 min. (GPU optimizations)</a:t>
            </a:r>
          </a:p>
          <a:p>
            <a:pPr>
              <a:buNone/>
            </a:pPr>
            <a:r>
              <a:rPr lang="en-US" sz="3200" dirty="0"/>
              <a:t>	</a:t>
            </a:r>
          </a:p>
        </p:txBody>
      </p:sp>
    </p:spTree>
    <p:extLst>
      <p:ext uri="{BB962C8B-B14F-4D97-AF65-F5344CB8AC3E}">
        <p14:creationId xmlns:p14="http://schemas.microsoft.com/office/powerpoint/2010/main" val="19711988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23822-4F34-1374-67CF-1B022EDAB731}"/>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D6CCD3FD-2668-459D-D06A-D28E00555EDE}"/>
              </a:ext>
            </a:extLst>
          </p:cNvPr>
          <p:cNvGraphicFramePr>
            <a:graphicFrameLocks noGrp="1"/>
          </p:cNvGraphicFramePr>
          <p:nvPr>
            <p:extLst>
              <p:ext uri="{D42A27DB-BD31-4B8C-83A1-F6EECF244321}">
                <p14:modId xmlns:p14="http://schemas.microsoft.com/office/powerpoint/2010/main" val="392832481"/>
              </p:ext>
            </p:extLst>
          </p:nvPr>
        </p:nvGraphicFramePr>
        <p:xfrm>
          <a:off x="374365" y="1114157"/>
          <a:ext cx="11443270" cy="4629685"/>
        </p:xfrm>
        <a:graphic>
          <a:graphicData uri="http://schemas.openxmlformats.org/drawingml/2006/table">
            <a:tbl>
              <a:tblPr>
                <a:tableStyleId>{5C22544A-7EE6-4342-B048-85BDC9FD1C3A}</a:tableStyleId>
              </a:tblPr>
              <a:tblGrid>
                <a:gridCol w="6500316">
                  <a:extLst>
                    <a:ext uri="{9D8B030D-6E8A-4147-A177-3AD203B41FA5}">
                      <a16:colId xmlns:a16="http://schemas.microsoft.com/office/drawing/2014/main" val="2909728719"/>
                    </a:ext>
                  </a:extLst>
                </a:gridCol>
                <a:gridCol w="2471477">
                  <a:extLst>
                    <a:ext uri="{9D8B030D-6E8A-4147-A177-3AD203B41FA5}">
                      <a16:colId xmlns:a16="http://schemas.microsoft.com/office/drawing/2014/main" val="1678380673"/>
                    </a:ext>
                  </a:extLst>
                </a:gridCol>
                <a:gridCol w="2471477">
                  <a:extLst>
                    <a:ext uri="{9D8B030D-6E8A-4147-A177-3AD203B41FA5}">
                      <a16:colId xmlns:a16="http://schemas.microsoft.com/office/drawing/2014/main" val="1227484213"/>
                    </a:ext>
                  </a:extLst>
                </a:gridCol>
              </a:tblGrid>
              <a:tr h="1114293">
                <a:tc>
                  <a:txBody>
                    <a:bodyPr/>
                    <a:lstStyle/>
                    <a:p>
                      <a:pPr algn="ctr" fontAlgn="b"/>
                      <a:r>
                        <a:rPr lang="es-MX" sz="3200" b="1" i="0" u="none" strike="noStrike" dirty="0">
                          <a:solidFill>
                            <a:srgbClr val="000000"/>
                          </a:solidFill>
                          <a:effectLst/>
                          <a:latin typeface="Calibri" panose="020F0502020204030204" pitchFamily="34" charset="0"/>
                        </a:rPr>
                        <a:t>Music Video</a:t>
                      </a: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i="0" u="none" strike="noStrike" dirty="0">
                          <a:solidFill>
                            <a:srgbClr val="000000"/>
                          </a:solidFill>
                          <a:effectLst/>
                          <a:latin typeface="Calibri" panose="020F0502020204030204" pitchFamily="34" charset="0"/>
                        </a:rPr>
                        <a:t>English </a:t>
                      </a:r>
                      <a:r>
                        <a:rPr lang="es-MX" sz="3200" b="1" i="0" u="none" strike="noStrike" dirty="0" err="1">
                          <a:solidFill>
                            <a:srgbClr val="000000"/>
                          </a:solidFill>
                          <a:effectLst/>
                          <a:latin typeface="Calibri" panose="020F0502020204030204" pitchFamily="34" charset="0"/>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Hate</a:t>
                      </a:r>
                      <a:r>
                        <a:rPr lang="es-MX" sz="3200" b="1" u="none" strike="noStrike" dirty="0">
                          <a:effectLst/>
                        </a:rPr>
                        <a:t> </a:t>
                      </a:r>
                      <a:r>
                        <a:rPr lang="es-MX" sz="3200" b="1" u="none" strike="noStrike" dirty="0" err="1">
                          <a:effectLst/>
                        </a:rPr>
                        <a:t>Speech</a:t>
                      </a:r>
                      <a:r>
                        <a:rPr lang="es-MX" sz="3200" b="1" u="none" strike="noStrike" dirty="0">
                          <a:effectLst/>
                        </a:rPr>
                        <a:t> </a:t>
                      </a:r>
                      <a:r>
                        <a:rPr lang="es-MX" sz="3200" b="1" u="none" strike="noStrike" dirty="0" err="1">
                          <a:effectLst/>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615958">
                <a:tc>
                  <a:txBody>
                    <a:bodyPr/>
                    <a:lstStyle/>
                    <a:p>
                      <a:pPr algn="ctr"/>
                      <a:r>
                        <a:rPr lang="es-MX" sz="3200" i="1" dirty="0">
                          <a:effectLst/>
                        </a:rPr>
                        <a:t>Black Sabbath ~ </a:t>
                      </a:r>
                      <a:r>
                        <a:rPr lang="es-MX" sz="3200" i="1" dirty="0" err="1">
                          <a:effectLst/>
                        </a:rPr>
                        <a:t>War</a:t>
                      </a:r>
                      <a:r>
                        <a:rPr lang="es-MX" sz="3200" i="1" dirty="0">
                          <a:effectLst/>
                        </a:rPr>
                        <a:t> </a:t>
                      </a:r>
                      <a:r>
                        <a:rPr lang="es-MX" sz="3200" i="1" dirty="0" err="1">
                          <a:effectLst/>
                        </a:rPr>
                        <a:t>Pigs</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29068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209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1034798">
                <a:tc>
                  <a:txBody>
                    <a:bodyPr/>
                    <a:lstStyle/>
                    <a:p>
                      <a:pPr algn="ctr"/>
                      <a:r>
                        <a:rPr lang="en-US" sz="3200" i="1" dirty="0">
                          <a:effectLst/>
                        </a:rPr>
                        <a:t>Hallowed Be Thy Name (2015 Remaster)</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1793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1</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615958">
                <a:tc>
                  <a:txBody>
                    <a:bodyPr/>
                    <a:lstStyle/>
                    <a:p>
                      <a:pPr algn="ctr"/>
                      <a:r>
                        <a:rPr lang="es-MX" sz="3200" i="1" dirty="0">
                          <a:effectLst/>
                        </a:rPr>
                        <a:t>Master of </a:t>
                      </a:r>
                      <a:r>
                        <a:rPr lang="es-MX" sz="3200" i="1" dirty="0" err="1">
                          <a:effectLst/>
                        </a:rPr>
                        <a:t>Puppets</a:t>
                      </a:r>
                      <a:r>
                        <a:rPr lang="es-MX" sz="3200" i="1" dirty="0">
                          <a:effectLst/>
                        </a:rPr>
                        <a:t> (</a:t>
                      </a:r>
                      <a:r>
                        <a:rPr lang="es-MX" sz="3200" i="1" dirty="0" err="1">
                          <a:effectLst/>
                        </a:rPr>
                        <a:t>Remastered</a:t>
                      </a:r>
                      <a:r>
                        <a:rPr lang="es-MX" sz="3200" i="1" dirty="0">
                          <a:effectLst/>
                        </a:rPr>
                        <a:t>)</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10149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240856017"/>
                  </a:ext>
                </a:extLst>
              </a:tr>
              <a:tr h="615958">
                <a:tc>
                  <a:txBody>
                    <a:bodyPr/>
                    <a:lstStyle/>
                    <a:p>
                      <a:pPr algn="ctr"/>
                      <a:r>
                        <a:rPr lang="es-MX" sz="3200" i="1" dirty="0">
                          <a:effectLst/>
                        </a:rPr>
                        <a:t>Pantera - Cowboys </a:t>
                      </a:r>
                      <a:r>
                        <a:rPr lang="es-MX" sz="3200" i="1" dirty="0" err="1">
                          <a:effectLst/>
                        </a:rPr>
                        <a:t>From</a:t>
                      </a:r>
                      <a:r>
                        <a:rPr lang="es-MX" sz="3200" i="1" dirty="0">
                          <a:effectLst/>
                        </a:rPr>
                        <a:t> </a:t>
                      </a:r>
                      <a:r>
                        <a:rPr lang="es-MX" sz="3200" i="1" dirty="0" err="1">
                          <a:effectLst/>
                        </a:rPr>
                        <a:t>Hell</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10724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31</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157566007"/>
                  </a:ext>
                </a:extLst>
              </a:tr>
              <a:tr h="615958">
                <a:tc>
                  <a:txBody>
                    <a:bodyPr/>
                    <a:lstStyle/>
                    <a:p>
                      <a:pPr algn="ctr"/>
                      <a:r>
                        <a:rPr lang="es-MX" sz="3200" i="1" dirty="0">
                          <a:effectLst/>
                        </a:rPr>
                        <a:t>Slayer - </a:t>
                      </a:r>
                      <a:r>
                        <a:rPr lang="es-MX" sz="3200" i="1" dirty="0" err="1">
                          <a:effectLst/>
                        </a:rPr>
                        <a:t>Raining</a:t>
                      </a:r>
                      <a:r>
                        <a:rPr lang="es-MX" sz="3200" i="1" dirty="0">
                          <a:effectLst/>
                        </a:rPr>
                        <a:t> </a:t>
                      </a:r>
                      <a:r>
                        <a:rPr lang="es-MX" sz="3200" i="1" dirty="0" err="1">
                          <a:effectLst/>
                        </a:rPr>
                        <a:t>Blood</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17852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70</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70466329"/>
                  </a:ext>
                </a:extLst>
              </a:tr>
            </a:tbl>
          </a:graphicData>
        </a:graphic>
      </p:graphicFrame>
    </p:spTree>
    <p:extLst>
      <p:ext uri="{BB962C8B-B14F-4D97-AF65-F5344CB8AC3E}">
        <p14:creationId xmlns:p14="http://schemas.microsoft.com/office/powerpoint/2010/main" val="845974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6BEEC-E57E-2960-24CB-4718B3D937DA}"/>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4093DD0C-8887-6249-C4BE-E5A3C8EF98C2}"/>
              </a:ext>
            </a:extLst>
          </p:cNvPr>
          <p:cNvSpPr txBox="1"/>
          <p:nvPr/>
        </p:nvSpPr>
        <p:spPr>
          <a:xfrm>
            <a:off x="3047478" y="361003"/>
            <a:ext cx="6097044" cy="369332"/>
          </a:xfrm>
          <a:prstGeom prst="rect">
            <a:avLst/>
          </a:prstGeom>
          <a:noFill/>
        </p:spPr>
        <p:txBody>
          <a:bodyPr wrap="square">
            <a:spAutoFit/>
          </a:bodyPr>
          <a:lstStyle/>
          <a:p>
            <a:pPr algn="ctr"/>
            <a:r>
              <a:rPr lang="es-MX" sz="1800" i="1" dirty="0">
                <a:effectLst/>
              </a:rPr>
              <a:t>Master of </a:t>
            </a:r>
            <a:r>
              <a:rPr lang="es-MX" sz="1800" i="1" dirty="0" err="1">
                <a:effectLst/>
              </a:rPr>
              <a:t>Puppets</a:t>
            </a:r>
            <a:endParaRPr lang="es-MX" sz="1800" i="1" dirty="0">
              <a:effectLst/>
            </a:endParaRPr>
          </a:p>
        </p:txBody>
      </p:sp>
      <p:sp>
        <p:nvSpPr>
          <p:cNvPr id="3" name="CuadroTexto 2">
            <a:extLst>
              <a:ext uri="{FF2B5EF4-FFF2-40B4-BE49-F238E27FC236}">
                <a16:creationId xmlns:a16="http://schemas.microsoft.com/office/drawing/2014/main" id="{E6F50EE3-1758-1DE6-518A-78EB91358FEF}"/>
              </a:ext>
            </a:extLst>
          </p:cNvPr>
          <p:cNvSpPr txBox="1"/>
          <p:nvPr/>
        </p:nvSpPr>
        <p:spPr>
          <a:xfrm>
            <a:off x="3047477" y="3213127"/>
            <a:ext cx="6097044" cy="369332"/>
          </a:xfrm>
          <a:prstGeom prst="rect">
            <a:avLst/>
          </a:prstGeom>
          <a:noFill/>
        </p:spPr>
        <p:txBody>
          <a:bodyPr wrap="square">
            <a:spAutoFit/>
          </a:bodyPr>
          <a:lstStyle/>
          <a:p>
            <a:pPr algn="ctr"/>
            <a:r>
              <a:rPr lang="en-US" sz="1800" i="1" dirty="0">
                <a:effectLst/>
              </a:rPr>
              <a:t>Slayer - Raining Blood</a:t>
            </a:r>
            <a:endParaRPr lang="es-MX" sz="1800" i="1" dirty="0">
              <a:effectLst/>
            </a:endParaRPr>
          </a:p>
        </p:txBody>
      </p:sp>
      <p:pic>
        <p:nvPicPr>
          <p:cNvPr id="9" name="Imagen 8">
            <a:extLst>
              <a:ext uri="{FF2B5EF4-FFF2-40B4-BE49-F238E27FC236}">
                <a16:creationId xmlns:a16="http://schemas.microsoft.com/office/drawing/2014/main" id="{604879B3-641B-0174-18D4-DA08A2A0F5E7}"/>
              </a:ext>
            </a:extLst>
          </p:cNvPr>
          <p:cNvPicPr>
            <a:picLocks noChangeAspect="1"/>
          </p:cNvPicPr>
          <p:nvPr/>
        </p:nvPicPr>
        <p:blipFill>
          <a:blip r:embed="rId2"/>
          <a:stretch>
            <a:fillRect/>
          </a:stretch>
        </p:blipFill>
        <p:spPr>
          <a:xfrm>
            <a:off x="924703" y="801665"/>
            <a:ext cx="10342594" cy="2095781"/>
          </a:xfrm>
          <a:prstGeom prst="rect">
            <a:avLst/>
          </a:prstGeom>
        </p:spPr>
      </p:pic>
      <p:pic>
        <p:nvPicPr>
          <p:cNvPr id="5" name="Imagen 4">
            <a:extLst>
              <a:ext uri="{FF2B5EF4-FFF2-40B4-BE49-F238E27FC236}">
                <a16:creationId xmlns:a16="http://schemas.microsoft.com/office/drawing/2014/main" id="{EE6F9C9D-990A-9D32-AC67-D3F5683C1218}"/>
              </a:ext>
            </a:extLst>
          </p:cNvPr>
          <p:cNvPicPr>
            <a:picLocks noChangeAspect="1"/>
          </p:cNvPicPr>
          <p:nvPr/>
        </p:nvPicPr>
        <p:blipFill>
          <a:blip r:embed="rId3"/>
          <a:stretch>
            <a:fillRect/>
          </a:stretch>
        </p:blipFill>
        <p:spPr>
          <a:xfrm>
            <a:off x="1982439" y="3641741"/>
            <a:ext cx="8227121" cy="3053295"/>
          </a:xfrm>
          <a:prstGeom prst="rect">
            <a:avLst/>
          </a:prstGeom>
        </p:spPr>
      </p:pic>
    </p:spTree>
    <p:extLst>
      <p:ext uri="{BB962C8B-B14F-4D97-AF65-F5344CB8AC3E}">
        <p14:creationId xmlns:p14="http://schemas.microsoft.com/office/powerpoint/2010/main" val="15212541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F16CA-9110-A6BC-479F-ACA21DE50B1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9C16508-71BF-1BBA-161E-4B95CE788E16}"/>
              </a:ext>
            </a:extLst>
          </p:cNvPr>
          <p:cNvSpPr txBox="1"/>
          <p:nvPr/>
        </p:nvSpPr>
        <p:spPr>
          <a:xfrm>
            <a:off x="1596301" y="1997839"/>
            <a:ext cx="8999398" cy="1015663"/>
          </a:xfrm>
          <a:prstGeom prst="rect">
            <a:avLst/>
          </a:prstGeom>
          <a:noFill/>
        </p:spPr>
        <p:txBody>
          <a:bodyPr wrap="square" rtlCol="0">
            <a:spAutoFit/>
          </a:bodyPr>
          <a:lstStyle/>
          <a:p>
            <a:r>
              <a:rPr lang="es-MX" sz="6000" dirty="0"/>
              <a:t>EXPERIMENT 8:</a:t>
            </a:r>
          </a:p>
        </p:txBody>
      </p:sp>
      <p:sp>
        <p:nvSpPr>
          <p:cNvPr id="2" name="CuadroTexto 1">
            <a:extLst>
              <a:ext uri="{FF2B5EF4-FFF2-40B4-BE49-F238E27FC236}">
                <a16:creationId xmlns:a16="http://schemas.microsoft.com/office/drawing/2014/main" id="{25195296-AC93-770E-77B3-5867CCB14811}"/>
              </a:ext>
            </a:extLst>
          </p:cNvPr>
          <p:cNvSpPr txBox="1"/>
          <p:nvPr/>
        </p:nvSpPr>
        <p:spPr>
          <a:xfrm>
            <a:off x="717176" y="3481245"/>
            <a:ext cx="10757647" cy="2554545"/>
          </a:xfrm>
          <a:prstGeom prst="rect">
            <a:avLst/>
          </a:prstGeom>
          <a:noFill/>
        </p:spPr>
        <p:txBody>
          <a:bodyPr wrap="square" rtlCol="0">
            <a:spAutoFit/>
          </a:bodyPr>
          <a:lstStyle/>
          <a:p>
            <a:pPr>
              <a:buNone/>
            </a:pPr>
            <a:r>
              <a:rPr lang="en-US" sz="3200" dirty="0"/>
              <a:t>TRANSFORMERS: Best variant of </a:t>
            </a:r>
            <a:r>
              <a:rPr lang="en-US" sz="3200" b="1" dirty="0"/>
              <a:t>Bert for Hate Speech </a:t>
            </a:r>
            <a:r>
              <a:rPr lang="en-US" sz="3200" dirty="0"/>
              <a:t>detection (</a:t>
            </a:r>
            <a:r>
              <a:rPr lang="es-MX" sz="3200" dirty="0" err="1"/>
              <a:t>HateBERT</a:t>
            </a:r>
            <a:r>
              <a:rPr lang="en-US" sz="3200" dirty="0"/>
              <a:t>).</a:t>
            </a:r>
          </a:p>
          <a:p>
            <a:pPr>
              <a:buNone/>
            </a:pPr>
            <a:r>
              <a:rPr lang="en-US" sz="3200" dirty="0"/>
              <a:t>	Fine tuning using (HATEXPLAIN, ETHOS). </a:t>
            </a:r>
          </a:p>
          <a:p>
            <a:pPr>
              <a:buNone/>
            </a:pPr>
            <a:r>
              <a:rPr lang="en-US" sz="3200" dirty="0"/>
              <a:t>	10 Epochs ~ 10 min. (GPU optimizations)</a:t>
            </a:r>
          </a:p>
          <a:p>
            <a:pPr>
              <a:buNone/>
            </a:pPr>
            <a:r>
              <a:rPr lang="en-US" sz="3200" dirty="0"/>
              <a:t>	</a:t>
            </a:r>
          </a:p>
        </p:txBody>
      </p:sp>
    </p:spTree>
    <p:extLst>
      <p:ext uri="{BB962C8B-B14F-4D97-AF65-F5344CB8AC3E}">
        <p14:creationId xmlns:p14="http://schemas.microsoft.com/office/powerpoint/2010/main" val="22945836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DEDF4-5F02-50A3-3F8D-7B808DB5A6D3}"/>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3FA7E9FE-4B28-4122-081E-DEB59E208D35}"/>
              </a:ext>
            </a:extLst>
          </p:cNvPr>
          <p:cNvGraphicFramePr>
            <a:graphicFrameLocks noGrp="1"/>
          </p:cNvGraphicFramePr>
          <p:nvPr>
            <p:extLst>
              <p:ext uri="{D42A27DB-BD31-4B8C-83A1-F6EECF244321}">
                <p14:modId xmlns:p14="http://schemas.microsoft.com/office/powerpoint/2010/main" val="1572585128"/>
              </p:ext>
            </p:extLst>
          </p:nvPr>
        </p:nvGraphicFramePr>
        <p:xfrm>
          <a:off x="374365" y="1114157"/>
          <a:ext cx="11443270" cy="4629685"/>
        </p:xfrm>
        <a:graphic>
          <a:graphicData uri="http://schemas.openxmlformats.org/drawingml/2006/table">
            <a:tbl>
              <a:tblPr>
                <a:tableStyleId>{5C22544A-7EE6-4342-B048-85BDC9FD1C3A}</a:tableStyleId>
              </a:tblPr>
              <a:tblGrid>
                <a:gridCol w="6500316">
                  <a:extLst>
                    <a:ext uri="{9D8B030D-6E8A-4147-A177-3AD203B41FA5}">
                      <a16:colId xmlns:a16="http://schemas.microsoft.com/office/drawing/2014/main" val="2909728719"/>
                    </a:ext>
                  </a:extLst>
                </a:gridCol>
                <a:gridCol w="2471477">
                  <a:extLst>
                    <a:ext uri="{9D8B030D-6E8A-4147-A177-3AD203B41FA5}">
                      <a16:colId xmlns:a16="http://schemas.microsoft.com/office/drawing/2014/main" val="1678380673"/>
                    </a:ext>
                  </a:extLst>
                </a:gridCol>
                <a:gridCol w="2471477">
                  <a:extLst>
                    <a:ext uri="{9D8B030D-6E8A-4147-A177-3AD203B41FA5}">
                      <a16:colId xmlns:a16="http://schemas.microsoft.com/office/drawing/2014/main" val="1227484213"/>
                    </a:ext>
                  </a:extLst>
                </a:gridCol>
              </a:tblGrid>
              <a:tr h="1114293">
                <a:tc>
                  <a:txBody>
                    <a:bodyPr/>
                    <a:lstStyle/>
                    <a:p>
                      <a:pPr algn="ctr" fontAlgn="b"/>
                      <a:r>
                        <a:rPr lang="es-MX" sz="3200" b="1" i="0" u="none" strike="noStrike" dirty="0">
                          <a:solidFill>
                            <a:srgbClr val="000000"/>
                          </a:solidFill>
                          <a:effectLst/>
                          <a:latin typeface="Calibri" panose="020F0502020204030204" pitchFamily="34" charset="0"/>
                        </a:rPr>
                        <a:t>Music Video</a:t>
                      </a: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i="0" u="none" strike="noStrike" dirty="0">
                          <a:solidFill>
                            <a:srgbClr val="000000"/>
                          </a:solidFill>
                          <a:effectLst/>
                          <a:latin typeface="Calibri" panose="020F0502020204030204" pitchFamily="34" charset="0"/>
                        </a:rPr>
                        <a:t>English </a:t>
                      </a:r>
                      <a:r>
                        <a:rPr lang="es-MX" sz="3200" b="1" i="0" u="none" strike="noStrike" dirty="0" err="1">
                          <a:solidFill>
                            <a:srgbClr val="000000"/>
                          </a:solidFill>
                          <a:effectLst/>
                          <a:latin typeface="Calibri" panose="020F0502020204030204" pitchFamily="34" charset="0"/>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fontAlgn="b"/>
                      <a:r>
                        <a:rPr lang="es-MX" sz="3200" b="1" u="none" strike="noStrike" dirty="0" err="1">
                          <a:effectLst/>
                        </a:rPr>
                        <a:t>Hate</a:t>
                      </a:r>
                      <a:r>
                        <a:rPr lang="es-MX" sz="3200" b="1" u="none" strike="noStrike" dirty="0">
                          <a:effectLst/>
                        </a:rPr>
                        <a:t> </a:t>
                      </a:r>
                      <a:r>
                        <a:rPr lang="es-MX" sz="3200" b="1" u="none" strike="noStrike" dirty="0" err="1">
                          <a:effectLst/>
                        </a:rPr>
                        <a:t>Speech</a:t>
                      </a:r>
                      <a:r>
                        <a:rPr lang="es-MX" sz="3200" b="1" u="none" strike="noStrike" dirty="0">
                          <a:effectLst/>
                        </a:rPr>
                        <a:t> </a:t>
                      </a:r>
                      <a:r>
                        <a:rPr lang="es-MX" sz="3200" b="1" u="none" strike="noStrike" dirty="0" err="1">
                          <a:effectLst/>
                        </a:rPr>
                        <a:t>Comments</a:t>
                      </a:r>
                      <a:endParaRPr lang="es-MX" sz="3200" b="1" i="0" u="none" strike="noStrike" dirty="0">
                        <a:solidFill>
                          <a:srgbClr val="000000"/>
                        </a:solidFill>
                        <a:effectLst/>
                        <a:latin typeface="Calibri" panose="020F0502020204030204" pitchFamily="34" charset="0"/>
                      </a:endParaRPr>
                    </a:p>
                  </a:txBody>
                  <a:tcPr marL="9525" marR="9525" marT="9525" marB="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984470654"/>
                  </a:ext>
                </a:extLst>
              </a:tr>
              <a:tr h="615958">
                <a:tc>
                  <a:txBody>
                    <a:bodyPr/>
                    <a:lstStyle/>
                    <a:p>
                      <a:pPr algn="ctr"/>
                      <a:r>
                        <a:rPr lang="es-MX" sz="3200" i="1" dirty="0">
                          <a:effectLst/>
                        </a:rPr>
                        <a:t>Black Sabbath ~ </a:t>
                      </a:r>
                      <a:r>
                        <a:rPr lang="es-MX" sz="3200" i="1" dirty="0" err="1">
                          <a:effectLst/>
                        </a:rPr>
                        <a:t>War</a:t>
                      </a:r>
                      <a:r>
                        <a:rPr lang="es-MX" sz="3200" i="1" dirty="0">
                          <a:effectLst/>
                        </a:rPr>
                        <a:t> </a:t>
                      </a:r>
                      <a:r>
                        <a:rPr lang="es-MX" sz="3200" i="1" dirty="0" err="1">
                          <a:effectLst/>
                        </a:rPr>
                        <a:t>Pigs</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29068</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229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3945193730"/>
                  </a:ext>
                </a:extLst>
              </a:tr>
              <a:tr h="1034798">
                <a:tc>
                  <a:txBody>
                    <a:bodyPr/>
                    <a:lstStyle/>
                    <a:p>
                      <a:pPr algn="ctr"/>
                      <a:r>
                        <a:rPr lang="en-US" sz="3200" i="1" dirty="0">
                          <a:effectLst/>
                        </a:rPr>
                        <a:t>Hallowed Be Thy Name (2015 Remaster)</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1793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3</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355643087"/>
                  </a:ext>
                </a:extLst>
              </a:tr>
              <a:tr h="615958">
                <a:tc>
                  <a:txBody>
                    <a:bodyPr/>
                    <a:lstStyle/>
                    <a:p>
                      <a:pPr algn="ctr"/>
                      <a:r>
                        <a:rPr lang="es-MX" sz="3200" i="1" dirty="0">
                          <a:effectLst/>
                        </a:rPr>
                        <a:t>Master of </a:t>
                      </a:r>
                      <a:r>
                        <a:rPr lang="es-MX" sz="3200" i="1" dirty="0" err="1">
                          <a:effectLst/>
                        </a:rPr>
                        <a:t>Puppets</a:t>
                      </a:r>
                      <a:r>
                        <a:rPr lang="es-MX" sz="3200" i="1" dirty="0">
                          <a:effectLst/>
                        </a:rPr>
                        <a:t> (</a:t>
                      </a:r>
                      <a:r>
                        <a:rPr lang="es-MX" sz="3200" i="1" dirty="0" err="1">
                          <a:effectLst/>
                        </a:rPr>
                        <a:t>Remastered</a:t>
                      </a:r>
                      <a:r>
                        <a:rPr lang="es-MX" sz="3200" i="1" dirty="0">
                          <a:effectLst/>
                        </a:rPr>
                        <a:t>)</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10149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7</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1240856017"/>
                  </a:ext>
                </a:extLst>
              </a:tr>
              <a:tr h="615958">
                <a:tc>
                  <a:txBody>
                    <a:bodyPr/>
                    <a:lstStyle/>
                    <a:p>
                      <a:pPr algn="ctr"/>
                      <a:r>
                        <a:rPr lang="es-MX" sz="3200" i="1" dirty="0">
                          <a:effectLst/>
                        </a:rPr>
                        <a:t>Pantera - Cowboys </a:t>
                      </a:r>
                      <a:r>
                        <a:rPr lang="es-MX" sz="3200" i="1" dirty="0" err="1">
                          <a:effectLst/>
                        </a:rPr>
                        <a:t>From</a:t>
                      </a:r>
                      <a:r>
                        <a:rPr lang="es-MX" sz="3200" i="1" dirty="0">
                          <a:effectLst/>
                        </a:rPr>
                        <a:t> </a:t>
                      </a:r>
                      <a:r>
                        <a:rPr lang="es-MX" sz="3200" i="1" dirty="0" err="1">
                          <a:effectLst/>
                        </a:rPr>
                        <a:t>Hell</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10724</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dirty="0">
                          <a:effectLst/>
                        </a:rPr>
                        <a:t>39</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38100" cap="flat" cmpd="sng" algn="ctr">
                      <a:solidFill>
                        <a:srgbClr val="820000"/>
                      </a:solid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2157566007"/>
                  </a:ext>
                </a:extLst>
              </a:tr>
              <a:tr h="615958">
                <a:tc>
                  <a:txBody>
                    <a:bodyPr/>
                    <a:lstStyle/>
                    <a:p>
                      <a:pPr algn="ctr"/>
                      <a:r>
                        <a:rPr lang="es-MX" sz="3200" i="1" dirty="0">
                          <a:effectLst/>
                        </a:rPr>
                        <a:t>Slayer - </a:t>
                      </a:r>
                      <a:r>
                        <a:rPr lang="es-MX" sz="3200" i="1" dirty="0" err="1">
                          <a:effectLst/>
                        </a:rPr>
                        <a:t>Raining</a:t>
                      </a:r>
                      <a:r>
                        <a:rPr lang="es-MX" sz="3200" i="1" dirty="0">
                          <a:effectLst/>
                        </a:rPr>
                        <a:t> </a:t>
                      </a:r>
                      <a:r>
                        <a:rPr lang="es-MX" sz="3200" i="1" dirty="0" err="1">
                          <a:effectLst/>
                        </a:rPr>
                        <a:t>Blood</a:t>
                      </a:r>
                      <a:endParaRPr lang="es-MX" sz="3200" i="1"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dirty="0">
                          <a:effectLst/>
                        </a:rPr>
                        <a:t>17852</a:t>
                      </a: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tc>
                  <a:txBody>
                    <a:bodyPr/>
                    <a:lstStyle/>
                    <a:p>
                      <a:pPr algn="ctr"/>
                      <a:r>
                        <a:rPr lang="es-MX" sz="3200" b="0">
                          <a:effectLst/>
                        </a:rPr>
                        <a:t>111</a:t>
                      </a:r>
                      <a:endParaRPr lang="es-MX" sz="3200" b="0" dirty="0">
                        <a:effectLst/>
                      </a:endParaRPr>
                    </a:p>
                  </a:txBody>
                  <a:tcPr marL="76200" marR="76200" marT="38100" marB="38100" anchor="ctr">
                    <a:lnL w="38100" cap="flat" cmpd="sng" algn="ctr">
                      <a:solidFill>
                        <a:srgbClr val="820000"/>
                      </a:solidFill>
                      <a:prstDash val="solid"/>
                      <a:round/>
                      <a:headEnd type="none" w="med" len="med"/>
                      <a:tailEnd type="none" w="med" len="med"/>
                    </a:lnL>
                    <a:lnR w="38100" cap="flat" cmpd="sng" algn="ctr">
                      <a:solidFill>
                        <a:srgbClr val="820000"/>
                      </a:solidFill>
                      <a:prstDash val="solid"/>
                      <a:round/>
                      <a:headEnd type="none" w="med" len="med"/>
                      <a:tailEnd type="none" w="med" len="med"/>
                    </a:lnR>
                    <a:lnT w="38100" cap="flat" cmpd="sng" algn="ctr">
                      <a:solidFill>
                        <a:srgbClr val="82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5C5"/>
                    </a:solidFill>
                  </a:tcPr>
                </a:tc>
                <a:extLst>
                  <a:ext uri="{0D108BD9-81ED-4DB2-BD59-A6C34878D82A}">
                    <a16:rowId xmlns:a16="http://schemas.microsoft.com/office/drawing/2014/main" val="4070466329"/>
                  </a:ext>
                </a:extLst>
              </a:tr>
            </a:tbl>
          </a:graphicData>
        </a:graphic>
      </p:graphicFrame>
    </p:spTree>
    <p:extLst>
      <p:ext uri="{BB962C8B-B14F-4D97-AF65-F5344CB8AC3E}">
        <p14:creationId xmlns:p14="http://schemas.microsoft.com/office/powerpoint/2010/main" val="28421628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68DFA-8835-8CD3-9416-4FD2EB93DCBC}"/>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C623183-1EF7-CCA8-F02B-FBDFD2829BBB}"/>
              </a:ext>
            </a:extLst>
          </p:cNvPr>
          <p:cNvSpPr txBox="1"/>
          <p:nvPr/>
        </p:nvSpPr>
        <p:spPr>
          <a:xfrm>
            <a:off x="3047476" y="214045"/>
            <a:ext cx="6097044" cy="369332"/>
          </a:xfrm>
          <a:prstGeom prst="rect">
            <a:avLst/>
          </a:prstGeom>
          <a:noFill/>
        </p:spPr>
        <p:txBody>
          <a:bodyPr wrap="square">
            <a:spAutoFit/>
          </a:bodyPr>
          <a:lstStyle/>
          <a:p>
            <a:pPr algn="ctr"/>
            <a:r>
              <a:rPr lang="es-MX" sz="1800" i="1" dirty="0">
                <a:effectLst/>
              </a:rPr>
              <a:t>Master of </a:t>
            </a:r>
            <a:r>
              <a:rPr lang="es-MX" sz="1800" i="1" dirty="0" err="1">
                <a:effectLst/>
              </a:rPr>
              <a:t>Puppets</a:t>
            </a:r>
            <a:endParaRPr lang="es-MX" sz="1800" i="1" dirty="0">
              <a:effectLst/>
            </a:endParaRPr>
          </a:p>
        </p:txBody>
      </p:sp>
      <p:sp>
        <p:nvSpPr>
          <p:cNvPr id="3" name="CuadroTexto 2">
            <a:extLst>
              <a:ext uri="{FF2B5EF4-FFF2-40B4-BE49-F238E27FC236}">
                <a16:creationId xmlns:a16="http://schemas.microsoft.com/office/drawing/2014/main" id="{D8814EAE-299C-2935-9AC6-E06A5423CEC0}"/>
              </a:ext>
            </a:extLst>
          </p:cNvPr>
          <p:cNvSpPr txBox="1"/>
          <p:nvPr/>
        </p:nvSpPr>
        <p:spPr>
          <a:xfrm>
            <a:off x="3047476" y="3312675"/>
            <a:ext cx="6097044" cy="369332"/>
          </a:xfrm>
          <a:prstGeom prst="rect">
            <a:avLst/>
          </a:prstGeom>
          <a:noFill/>
        </p:spPr>
        <p:txBody>
          <a:bodyPr wrap="square">
            <a:spAutoFit/>
          </a:bodyPr>
          <a:lstStyle/>
          <a:p>
            <a:pPr algn="ctr"/>
            <a:r>
              <a:rPr lang="en-US" sz="1800" i="1" dirty="0">
                <a:effectLst/>
              </a:rPr>
              <a:t>Slayer - Raining Blood</a:t>
            </a:r>
            <a:endParaRPr lang="es-MX" sz="1800" i="1" dirty="0">
              <a:effectLst/>
            </a:endParaRPr>
          </a:p>
        </p:txBody>
      </p:sp>
      <p:pic>
        <p:nvPicPr>
          <p:cNvPr id="11" name="Imagen 10">
            <a:extLst>
              <a:ext uri="{FF2B5EF4-FFF2-40B4-BE49-F238E27FC236}">
                <a16:creationId xmlns:a16="http://schemas.microsoft.com/office/drawing/2014/main" id="{3305F511-5219-33A8-BFB9-6DECC7EEFC19}"/>
              </a:ext>
            </a:extLst>
          </p:cNvPr>
          <p:cNvPicPr>
            <a:picLocks noChangeAspect="1"/>
          </p:cNvPicPr>
          <p:nvPr/>
        </p:nvPicPr>
        <p:blipFill>
          <a:blip r:embed="rId2"/>
          <a:stretch>
            <a:fillRect/>
          </a:stretch>
        </p:blipFill>
        <p:spPr>
          <a:xfrm>
            <a:off x="1674215" y="583377"/>
            <a:ext cx="8843569" cy="2419882"/>
          </a:xfrm>
          <a:prstGeom prst="rect">
            <a:avLst/>
          </a:prstGeom>
        </p:spPr>
      </p:pic>
      <p:pic>
        <p:nvPicPr>
          <p:cNvPr id="13" name="Imagen 12">
            <a:extLst>
              <a:ext uri="{FF2B5EF4-FFF2-40B4-BE49-F238E27FC236}">
                <a16:creationId xmlns:a16="http://schemas.microsoft.com/office/drawing/2014/main" id="{A0D9AB1B-3CD3-5FB2-77A6-AE00FB67D8E7}"/>
              </a:ext>
            </a:extLst>
          </p:cNvPr>
          <p:cNvPicPr>
            <a:picLocks noChangeAspect="1"/>
          </p:cNvPicPr>
          <p:nvPr/>
        </p:nvPicPr>
        <p:blipFill>
          <a:blip r:embed="rId3"/>
          <a:stretch>
            <a:fillRect/>
          </a:stretch>
        </p:blipFill>
        <p:spPr>
          <a:xfrm>
            <a:off x="1869507" y="3682007"/>
            <a:ext cx="8452981" cy="3081687"/>
          </a:xfrm>
          <a:prstGeom prst="rect">
            <a:avLst/>
          </a:prstGeom>
        </p:spPr>
      </p:pic>
    </p:spTree>
    <p:extLst>
      <p:ext uri="{BB962C8B-B14F-4D97-AF65-F5344CB8AC3E}">
        <p14:creationId xmlns:p14="http://schemas.microsoft.com/office/powerpoint/2010/main" val="41172682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90EBF-11F3-021A-1C24-6C3A4D7890A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7FFAEE09-BD18-484E-0169-BF8EA9108A65}"/>
              </a:ext>
            </a:extLst>
          </p:cNvPr>
          <p:cNvSpPr txBox="1"/>
          <p:nvPr/>
        </p:nvSpPr>
        <p:spPr>
          <a:xfrm>
            <a:off x="717176" y="470340"/>
            <a:ext cx="10757647" cy="6186309"/>
          </a:xfrm>
          <a:prstGeom prst="rect">
            <a:avLst/>
          </a:prstGeom>
          <a:noFill/>
        </p:spPr>
        <p:txBody>
          <a:bodyPr wrap="square" rtlCol="0">
            <a:spAutoFit/>
          </a:bodyPr>
          <a:lstStyle/>
          <a:p>
            <a:r>
              <a:rPr lang="en-US" sz="3200" b="1" dirty="0"/>
              <a:t>NOTES:</a:t>
            </a:r>
          </a:p>
          <a:p>
            <a:endParaRPr lang="en-US" sz="2800" b="1" dirty="0"/>
          </a:p>
          <a:p>
            <a:r>
              <a:rPr lang="en-US" sz="2800" dirty="0"/>
              <a:t>The transformers results are only considering the training datasets (HATEXPLAIN &amp; ETHOS).</a:t>
            </a:r>
          </a:p>
          <a:p>
            <a:endParaRPr lang="en-US" sz="2800" dirty="0"/>
          </a:p>
          <a:p>
            <a:r>
              <a:rPr lang="en-US" sz="2800" dirty="0"/>
              <a:t>To consider the comments of the metal music </a:t>
            </a:r>
            <a:r>
              <a:rPr lang="en-US" sz="2800" dirty="0" err="1"/>
              <a:t>youtube</a:t>
            </a:r>
            <a:r>
              <a:rPr lang="en-US" sz="2800" dirty="0"/>
              <a:t> videos it’s necessary to expand the quantity of languages considered (translate each of the tagged comment with hate speech inside the training datasets).</a:t>
            </a:r>
          </a:p>
          <a:p>
            <a:endParaRPr lang="en-US" sz="2800" dirty="0"/>
          </a:p>
          <a:p>
            <a:r>
              <a:rPr lang="en-US" sz="2800" dirty="0"/>
              <a:t>Only consider one music gender due to the difference in the magnitude order of the quantity of comments.</a:t>
            </a:r>
          </a:p>
          <a:p>
            <a:endParaRPr lang="en-US" sz="2800" b="1" dirty="0"/>
          </a:p>
          <a:p>
            <a:endParaRPr lang="en-US" sz="2800" b="1" dirty="0"/>
          </a:p>
        </p:txBody>
      </p:sp>
    </p:spTree>
    <p:extLst>
      <p:ext uri="{BB962C8B-B14F-4D97-AF65-F5344CB8AC3E}">
        <p14:creationId xmlns:p14="http://schemas.microsoft.com/office/powerpoint/2010/main" val="3582891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8324E-CD8D-4122-3A3E-DDF6C030C80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73D0A57-6748-2DF3-6DA5-F85093AEAD5C}"/>
              </a:ext>
            </a:extLst>
          </p:cNvPr>
          <p:cNvSpPr txBox="1"/>
          <p:nvPr/>
        </p:nvSpPr>
        <p:spPr>
          <a:xfrm>
            <a:off x="717176" y="470340"/>
            <a:ext cx="10757647" cy="5755422"/>
          </a:xfrm>
          <a:prstGeom prst="rect">
            <a:avLst/>
          </a:prstGeom>
          <a:noFill/>
        </p:spPr>
        <p:txBody>
          <a:bodyPr wrap="square" rtlCol="0">
            <a:spAutoFit/>
          </a:bodyPr>
          <a:lstStyle/>
          <a:p>
            <a:r>
              <a:rPr lang="en-US" sz="3200" b="1" dirty="0"/>
              <a:t>NOTES:</a:t>
            </a:r>
          </a:p>
          <a:p>
            <a:endParaRPr lang="en-US" sz="2800" b="1" dirty="0"/>
          </a:p>
          <a:p>
            <a:r>
              <a:rPr lang="en-US" sz="2800" dirty="0"/>
              <a:t>Using more transformer tokenizer models (e.g. variations of Bert) [for the transformers based architecture].</a:t>
            </a:r>
          </a:p>
          <a:p>
            <a:endParaRPr lang="en-US" sz="2800" dirty="0"/>
          </a:p>
          <a:p>
            <a:endParaRPr lang="en-US" sz="2800" dirty="0"/>
          </a:p>
          <a:p>
            <a:r>
              <a:rPr lang="en-US" sz="2800" dirty="0"/>
              <a:t>Use of heavy LLM’s to artificially tag the </a:t>
            </a:r>
            <a:r>
              <a:rPr lang="en-US" sz="2800" dirty="0" err="1"/>
              <a:t>youtube</a:t>
            </a:r>
            <a:r>
              <a:rPr lang="en-US" sz="2800" dirty="0"/>
              <a:t> comments making use of Agentic AI?</a:t>
            </a:r>
          </a:p>
          <a:p>
            <a:endParaRPr lang="en-US" sz="2800" dirty="0"/>
          </a:p>
          <a:p>
            <a:endParaRPr lang="en-US" sz="2800" dirty="0"/>
          </a:p>
          <a:p>
            <a:endParaRPr lang="en-US" sz="2800" dirty="0"/>
          </a:p>
          <a:p>
            <a:endParaRPr lang="en-US" sz="2800" dirty="0"/>
          </a:p>
          <a:p>
            <a:endParaRPr lang="en-US" sz="2800" b="1" dirty="0"/>
          </a:p>
        </p:txBody>
      </p:sp>
    </p:spTree>
    <p:extLst>
      <p:ext uri="{BB962C8B-B14F-4D97-AF65-F5344CB8AC3E}">
        <p14:creationId xmlns:p14="http://schemas.microsoft.com/office/powerpoint/2010/main" val="35869487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35C4B-9577-2E11-36AD-F9D419796E6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BB59004A-6BC5-369A-9FE0-1D64BD65FE19}"/>
              </a:ext>
            </a:extLst>
          </p:cNvPr>
          <p:cNvSpPr txBox="1"/>
          <p:nvPr/>
        </p:nvSpPr>
        <p:spPr>
          <a:xfrm>
            <a:off x="717176" y="470340"/>
            <a:ext cx="10757647" cy="5693866"/>
          </a:xfrm>
          <a:prstGeom prst="rect">
            <a:avLst/>
          </a:prstGeom>
          <a:noFill/>
        </p:spPr>
        <p:txBody>
          <a:bodyPr wrap="square" rtlCol="0">
            <a:spAutoFit/>
          </a:bodyPr>
          <a:lstStyle/>
          <a:p>
            <a:r>
              <a:rPr lang="es-MX" sz="2800" b="1" dirty="0" err="1"/>
              <a:t>Datasets</a:t>
            </a:r>
            <a:r>
              <a:rPr lang="es-MX" sz="2800" b="1" dirty="0"/>
              <a:t> </a:t>
            </a:r>
            <a:r>
              <a:rPr lang="es-MX" sz="2800" b="1" dirty="0" err="1"/>
              <a:t>References</a:t>
            </a:r>
            <a:r>
              <a:rPr lang="es-MX" sz="2800" b="1" dirty="0"/>
              <a:t>:</a:t>
            </a:r>
          </a:p>
          <a:p>
            <a:endParaRPr lang="es-MX" sz="2400" dirty="0"/>
          </a:p>
          <a:p>
            <a:r>
              <a:rPr lang="es-MX" sz="2400" dirty="0"/>
              <a:t>YT-30M: A </a:t>
            </a:r>
            <a:r>
              <a:rPr lang="es-MX" sz="2400" dirty="0" err="1"/>
              <a:t>multi-lingual</a:t>
            </a:r>
            <a:r>
              <a:rPr lang="es-MX" sz="2400" dirty="0"/>
              <a:t> </a:t>
            </a:r>
            <a:r>
              <a:rPr lang="es-MX" sz="2400" dirty="0" err="1"/>
              <a:t>multi-category</a:t>
            </a:r>
            <a:r>
              <a:rPr lang="es-MX" sz="2400" dirty="0"/>
              <a:t> </a:t>
            </a:r>
            <a:r>
              <a:rPr lang="es-MX" sz="2400" dirty="0" err="1"/>
              <a:t>dataset</a:t>
            </a:r>
            <a:r>
              <a:rPr lang="es-MX" sz="2400" dirty="0"/>
              <a:t> of YouTube </a:t>
            </a:r>
            <a:r>
              <a:rPr lang="es-MX" sz="2400" dirty="0" err="1"/>
              <a:t>comments</a:t>
            </a:r>
            <a:r>
              <a:rPr lang="es-MX" sz="2400" dirty="0"/>
              <a:t>: </a:t>
            </a:r>
            <a:r>
              <a:rPr lang="es-MX" sz="2400" dirty="0">
                <a:hlinkClick r:id="rId2"/>
              </a:rPr>
              <a:t>https://arxiv.org/pdf/2412.03465</a:t>
            </a:r>
            <a:endParaRPr lang="es-MX" sz="2400" dirty="0"/>
          </a:p>
          <a:p>
            <a:endParaRPr lang="es-MX" sz="2400" dirty="0"/>
          </a:p>
          <a:p>
            <a:endParaRPr lang="es-MX" sz="2400" dirty="0"/>
          </a:p>
          <a:p>
            <a:r>
              <a:rPr lang="es-MX" sz="2400" dirty="0"/>
              <a:t>ETHOS </a:t>
            </a:r>
            <a:r>
              <a:rPr lang="es-MX" sz="2400" dirty="0" err="1"/>
              <a:t>Hate</a:t>
            </a:r>
            <a:r>
              <a:rPr lang="es-MX" sz="2400" dirty="0"/>
              <a:t> </a:t>
            </a:r>
            <a:r>
              <a:rPr lang="es-MX" sz="2400" dirty="0" err="1"/>
              <a:t>Speech</a:t>
            </a:r>
            <a:r>
              <a:rPr lang="es-MX" sz="2400" dirty="0"/>
              <a:t> </a:t>
            </a:r>
            <a:r>
              <a:rPr lang="es-MX" sz="2400" dirty="0" err="1"/>
              <a:t>Dataset</a:t>
            </a:r>
            <a:r>
              <a:rPr lang="es-MX" sz="2400" dirty="0"/>
              <a:t>: </a:t>
            </a:r>
            <a:r>
              <a:rPr lang="es-MX" sz="2400" dirty="0">
                <a:hlinkClick r:id="rId3"/>
              </a:rPr>
              <a:t>https://github.com/intelligence-csd-auth-gr/Ethos-Hate-Speech-Dataset</a:t>
            </a:r>
            <a:endParaRPr lang="es-MX" sz="2400" dirty="0"/>
          </a:p>
          <a:p>
            <a:endParaRPr lang="es-MX" sz="2400" dirty="0"/>
          </a:p>
          <a:p>
            <a:endParaRPr lang="es-MX" sz="2400" dirty="0"/>
          </a:p>
          <a:p>
            <a:r>
              <a:rPr lang="en-US" sz="2400" dirty="0"/>
              <a:t>Hate Speech Classifier for Social Media Content in English Language:</a:t>
            </a:r>
          </a:p>
          <a:p>
            <a:r>
              <a:rPr lang="es-MX" sz="2400" dirty="0">
                <a:hlinkClick r:id="rId4"/>
              </a:rPr>
              <a:t>https://huggingface.co/IMSyPP/hate_speech_en</a:t>
            </a:r>
            <a:endParaRPr lang="en-US" sz="2400" dirty="0"/>
          </a:p>
          <a:p>
            <a:endParaRPr lang="en-US" sz="2400" dirty="0"/>
          </a:p>
          <a:p>
            <a:endParaRPr lang="es-MX" sz="2400" dirty="0"/>
          </a:p>
          <a:p>
            <a:r>
              <a:rPr lang="es-MX" sz="2400" dirty="0" err="1"/>
              <a:t>HateXplain</a:t>
            </a:r>
            <a:r>
              <a:rPr lang="es-MX" sz="2400" dirty="0"/>
              <a:t>: </a:t>
            </a:r>
            <a:r>
              <a:rPr lang="es-MX" sz="2400" dirty="0">
                <a:hlinkClick r:id="rId5"/>
              </a:rPr>
              <a:t>https://github.com/hate-alert/HateXplain</a:t>
            </a:r>
            <a:endParaRPr lang="es-MX" sz="2400" dirty="0"/>
          </a:p>
        </p:txBody>
      </p:sp>
    </p:spTree>
    <p:extLst>
      <p:ext uri="{BB962C8B-B14F-4D97-AF65-F5344CB8AC3E}">
        <p14:creationId xmlns:p14="http://schemas.microsoft.com/office/powerpoint/2010/main" val="327647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14328-4C71-E1D9-6721-0B73AD45055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FAC0C75B-0BB8-6937-457C-4F4D1345EA89}"/>
              </a:ext>
            </a:extLst>
          </p:cNvPr>
          <p:cNvSpPr txBox="1"/>
          <p:nvPr/>
        </p:nvSpPr>
        <p:spPr>
          <a:xfrm>
            <a:off x="717176" y="470340"/>
            <a:ext cx="10757647" cy="5693866"/>
          </a:xfrm>
          <a:prstGeom prst="rect">
            <a:avLst/>
          </a:prstGeom>
          <a:noFill/>
        </p:spPr>
        <p:txBody>
          <a:bodyPr wrap="square" rtlCol="0">
            <a:spAutoFit/>
          </a:bodyPr>
          <a:lstStyle/>
          <a:p>
            <a:r>
              <a:rPr lang="es-MX" sz="2800" b="1" dirty="0" err="1"/>
              <a:t>References</a:t>
            </a:r>
            <a:r>
              <a:rPr lang="es-MX" sz="2800" b="1" dirty="0"/>
              <a:t> :</a:t>
            </a:r>
          </a:p>
          <a:p>
            <a:endParaRPr lang="es-MX" sz="2400" dirty="0"/>
          </a:p>
          <a:p>
            <a:r>
              <a:rPr lang="en-US" sz="2400" b="0" i="0" dirty="0">
                <a:solidFill>
                  <a:srgbClr val="1F1F1F"/>
                </a:solidFill>
                <a:effectLst/>
                <a:latin typeface="ElsevierGulliver"/>
              </a:rPr>
              <a:t>Misogynistic attitude detection in YouTube comments and replies: A high-quality dataset and algorithmic models</a:t>
            </a:r>
            <a:r>
              <a:rPr lang="es-MX" sz="2400" dirty="0"/>
              <a:t>: </a:t>
            </a:r>
            <a:r>
              <a:rPr lang="es-MX" sz="2400" dirty="0">
                <a:hlinkClick r:id="rId2"/>
              </a:rPr>
              <a:t>https://www.sciencedirect.com/science/article/pii/S0885230824000652</a:t>
            </a:r>
            <a:endParaRPr lang="es-MX" sz="2400" dirty="0"/>
          </a:p>
          <a:p>
            <a:endParaRPr lang="es-MX" sz="2400" dirty="0"/>
          </a:p>
          <a:p>
            <a:endParaRPr lang="es-MX" sz="2400" dirty="0"/>
          </a:p>
          <a:p>
            <a:r>
              <a:rPr lang="en-US" sz="2400" dirty="0" err="1"/>
              <a:t>DweshVaani</a:t>
            </a:r>
            <a:r>
              <a:rPr lang="en-US" sz="2400" dirty="0"/>
              <a:t>: An LLM for Detecting Religious Hate Speech in Code-Mixed Hindi-English</a:t>
            </a:r>
            <a:r>
              <a:rPr lang="es-MX" sz="2400" dirty="0"/>
              <a:t>: </a:t>
            </a:r>
            <a:r>
              <a:rPr lang="es-MX" sz="2400" dirty="0">
                <a:hlinkClick r:id="rId3"/>
              </a:rPr>
              <a:t>https://aclanthology.org/2025.chipsal-1.5.pdf</a:t>
            </a:r>
            <a:endParaRPr lang="es-MX" sz="2400" dirty="0"/>
          </a:p>
          <a:p>
            <a:endParaRPr lang="es-MX" sz="2400" dirty="0"/>
          </a:p>
          <a:p>
            <a:endParaRPr lang="es-MX" sz="2400" dirty="0"/>
          </a:p>
          <a:p>
            <a:r>
              <a:rPr lang="en-US" sz="2400" dirty="0"/>
              <a:t>Detection of homophobia and transphobia in YouTube comments:</a:t>
            </a:r>
          </a:p>
          <a:p>
            <a:r>
              <a:rPr lang="es-MX" sz="2400" dirty="0">
                <a:hlinkClick r:id="rId4"/>
              </a:rPr>
              <a:t>https://link.springer.com/article/10.1007/s41060-023-00400-0/figures/1</a:t>
            </a:r>
            <a:endParaRPr lang="es-MX" sz="2400" dirty="0"/>
          </a:p>
          <a:p>
            <a:endParaRPr lang="en-US" sz="2400" dirty="0"/>
          </a:p>
          <a:p>
            <a:endParaRPr lang="es-MX" sz="2400" dirty="0"/>
          </a:p>
        </p:txBody>
      </p:sp>
    </p:spTree>
    <p:extLst>
      <p:ext uri="{BB962C8B-B14F-4D97-AF65-F5344CB8AC3E}">
        <p14:creationId xmlns:p14="http://schemas.microsoft.com/office/powerpoint/2010/main" val="343241607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1929</TotalTime>
  <Words>1985</Words>
  <Application>Microsoft Office PowerPoint</Application>
  <PresentationFormat>Panorámica</PresentationFormat>
  <Paragraphs>526</Paragraphs>
  <Slides>56</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56</vt:i4>
      </vt:variant>
    </vt:vector>
  </HeadingPairs>
  <TitlesOfParts>
    <vt:vector size="62" baseType="lpstr">
      <vt:lpstr>Arial</vt:lpstr>
      <vt:lpstr>Bitter</vt:lpstr>
      <vt:lpstr>Calibri</vt:lpstr>
      <vt:lpstr>Calibri Light</vt:lpstr>
      <vt:lpstr>ElsevierGulliver</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Sebastian Rivett</dc:creator>
  <cp:lastModifiedBy>Sebastian Rivett</cp:lastModifiedBy>
  <cp:revision>293</cp:revision>
  <dcterms:created xsi:type="dcterms:W3CDTF">2025-01-29T15:17:46Z</dcterms:created>
  <dcterms:modified xsi:type="dcterms:W3CDTF">2025-04-30T15:45:22Z</dcterms:modified>
</cp:coreProperties>
</file>